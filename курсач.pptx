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4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2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9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4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8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5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88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95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5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7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0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81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4" r:id="rId3"/>
    <p:sldLayoutId id="2147483683" r:id="rId4"/>
    <p:sldLayoutId id="2147483682" r:id="rId5"/>
    <p:sldLayoutId id="2147483681" r:id="rId6"/>
    <p:sldLayoutId id="2147483680" r:id="rId7"/>
    <p:sldLayoutId id="2147483679" r:id="rId8"/>
    <p:sldLayoutId id="2147483678" r:id="rId9"/>
    <p:sldLayoutId id="2147483677" r:id="rId10"/>
    <p:sldLayoutId id="214748367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9A212-A839-E832-0853-4B83AC267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951" y="1483542"/>
            <a:ext cx="6742859" cy="3224045"/>
          </a:xfrm>
        </p:spPr>
        <p:txBody>
          <a:bodyPr anchor="b">
            <a:noAutofit/>
          </a:bodyPr>
          <a:lstStyle/>
          <a:p>
            <a:pPr algn="ctr"/>
            <a:r>
              <a:rPr lang="ru-RU" sz="3200" dirty="0"/>
              <a:t>Курсовая работа</a:t>
            </a:r>
            <a:br>
              <a:rPr lang="ru-RU" sz="3200" dirty="0"/>
            </a:br>
            <a:r>
              <a:rPr lang="ru-RU" sz="3200" dirty="0"/>
              <a:t> </a:t>
            </a:r>
            <a:br>
              <a:rPr lang="ru-RU" sz="3200" dirty="0"/>
            </a:br>
            <a:r>
              <a:rPr lang="ru-RU" sz="3200" dirty="0"/>
              <a:t>Тема: База данных для детского творческого центра</a:t>
            </a:r>
            <a:br>
              <a:rPr lang="ru-RU" sz="3200" dirty="0"/>
            </a:br>
            <a:endParaRPr lang="ru-RU" sz="3200" dirty="0"/>
          </a:p>
        </p:txBody>
      </p:sp>
      <p:pic>
        <p:nvPicPr>
          <p:cNvPr id="4" name="Picture 3" descr="Цветные карандаши внутри карандаша, которая находится вверху таблицы &quot;дерево&quot;">
            <a:extLst>
              <a:ext uri="{FF2B5EF4-FFF2-40B4-BE49-F238E27FC236}">
                <a16:creationId xmlns:a16="http://schemas.microsoft.com/office/drawing/2014/main" id="{C0A4F731-5602-2D4F-B6FB-D9F41C922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17" t="-1" b="-1"/>
          <a:stretch>
            <a:fillRect/>
          </a:stretch>
        </p:blipFill>
        <p:spPr>
          <a:xfrm>
            <a:off x="-23592" y="10"/>
            <a:ext cx="4808353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AFC785-FEB3-9891-7CB5-8D36EC50C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8353" y="288618"/>
            <a:ext cx="7260550" cy="1588308"/>
          </a:xfrm>
        </p:spPr>
        <p:txBody>
          <a:bodyPr anchor="t">
            <a:normAutofit lnSpcReduction="10000"/>
          </a:bodyPr>
          <a:lstStyle/>
          <a:p>
            <a:pPr algn="ctr"/>
            <a:r>
              <a:rPr lang="ru-RU" dirty="0"/>
              <a:t>Министерство образования, науки и молодежной политики Республики Коми</a:t>
            </a:r>
          </a:p>
          <a:p>
            <a:pPr algn="ctr"/>
            <a:r>
              <a:rPr lang="ru-RU" dirty="0"/>
              <a:t>ГПОУ «Сыктывкарский политехнический </a:t>
            </a:r>
            <a:r>
              <a:rPr lang="ru-RU" sz="1900" dirty="0"/>
              <a:t>техникум»</a:t>
            </a:r>
          </a:p>
          <a:p>
            <a:pPr algn="ctr"/>
            <a:endParaRPr lang="ru-RU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1836F1E-40B4-AAE3-36E2-4E72562C3B3C}"/>
              </a:ext>
            </a:extLst>
          </p:cNvPr>
          <p:cNvSpPr txBox="1">
            <a:spLocks/>
          </p:cNvSpPr>
          <p:nvPr/>
        </p:nvSpPr>
        <p:spPr>
          <a:xfrm>
            <a:off x="6096000" y="3621574"/>
            <a:ext cx="5972903" cy="302407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/>
              <a:t> </a:t>
            </a:r>
          </a:p>
          <a:p>
            <a:pPr algn="r"/>
            <a:r>
              <a:rPr lang="ru-RU" dirty="0"/>
              <a:t> </a:t>
            </a:r>
          </a:p>
          <a:p>
            <a:pPr algn="r"/>
            <a:r>
              <a:rPr lang="ru-RU" dirty="0"/>
              <a:t>выполнила</a:t>
            </a:r>
          </a:p>
          <a:p>
            <a:pPr algn="r"/>
            <a:r>
              <a:rPr lang="ru-RU" dirty="0"/>
              <a:t>студентка 4 курса</a:t>
            </a:r>
          </a:p>
          <a:p>
            <a:pPr algn="r"/>
            <a:r>
              <a:rPr lang="ru-RU" dirty="0"/>
              <a:t>414 группы</a:t>
            </a:r>
          </a:p>
          <a:p>
            <a:pPr algn="r"/>
            <a:r>
              <a:rPr lang="ru-RU" dirty="0"/>
              <a:t>Кетова Дарья Олеговна</a:t>
            </a:r>
          </a:p>
          <a:p>
            <a:pPr algn="r"/>
            <a:r>
              <a:rPr lang="ru-RU" dirty="0"/>
              <a:t>проверил</a:t>
            </a:r>
          </a:p>
          <a:p>
            <a:pPr algn="r"/>
            <a:r>
              <a:rPr lang="ru-RU" dirty="0" err="1"/>
              <a:t>Пунгин</a:t>
            </a:r>
            <a:r>
              <a:rPr lang="ru-RU" dirty="0"/>
              <a:t> И.В.</a:t>
            </a:r>
          </a:p>
          <a:p>
            <a:pPr algn="r"/>
            <a:r>
              <a:rPr lang="ru-RU" dirty="0"/>
              <a:t>дата проверки:</a:t>
            </a:r>
          </a:p>
          <a:p>
            <a:pPr algn="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BB82C014-98AC-1273-2968-721A8FAAFAEA}"/>
              </a:ext>
            </a:extLst>
          </p:cNvPr>
          <p:cNvSpPr txBox="1">
            <a:spLocks/>
          </p:cNvSpPr>
          <p:nvPr/>
        </p:nvSpPr>
        <p:spPr>
          <a:xfrm>
            <a:off x="6840855" y="5447696"/>
            <a:ext cx="3195545" cy="14123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/>
              <a:t> </a:t>
            </a:r>
          </a:p>
          <a:p>
            <a:pPr algn="r"/>
            <a:r>
              <a:rPr lang="ru-RU" dirty="0"/>
              <a:t> </a:t>
            </a:r>
          </a:p>
          <a:p>
            <a:r>
              <a:rPr lang="ru-RU" dirty="0"/>
              <a:t>Сыктывкар, 2025 г.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2221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31745-4F64-403E-95A9-43B5A2818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58" y="232611"/>
            <a:ext cx="10890929" cy="1097280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D9D4AF-C33D-588F-F0D1-60013A59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329891"/>
            <a:ext cx="10890928" cy="3566160"/>
          </a:xfrm>
        </p:spPr>
        <p:txBody>
          <a:bodyPr/>
          <a:lstStyle/>
          <a:p>
            <a:pPr marL="0" indent="0" algn="ctr">
              <a:buNone/>
            </a:pPr>
            <a:r>
              <a:rPr lang="ru-RU" sz="3200" dirty="0"/>
              <a:t>Актуальность темы</a:t>
            </a: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EDD1DE5-7F3D-3A6B-1441-831200D9E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52" y="2427171"/>
            <a:ext cx="10514412" cy="412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12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5AD96-676B-CA5C-5F2D-378AA754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8073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ru-RU" dirty="0"/>
              <a:t>Цель и задачи работы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AA068E-7029-6704-0471-5BB7EA5AB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8018"/>
            <a:ext cx="10890928" cy="547998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Разработать и продемонстрировать работоспособную базу данных для детского творческого центра, которая обеспечивает хранение и управление информацией по детям, родителям, занятиям, преподавателям, записям на занятия, мероприятиям и отзывам. </a:t>
            </a:r>
          </a:p>
          <a:p>
            <a:endParaRPr lang="ru-RU" dirty="0"/>
          </a:p>
          <a:p>
            <a:r>
              <a:rPr lang="ru-RU" dirty="0"/>
              <a:t>• Спроектировать концептуальную и физическую модель базы данных, определить сущности, атрибуты, связи и ограничения целостности.</a:t>
            </a:r>
          </a:p>
          <a:p>
            <a:r>
              <a:rPr lang="ru-RU" dirty="0"/>
              <a:t>• Реализовать структурную схему базы данных в выбранной СУБД (</a:t>
            </a:r>
            <a:r>
              <a:rPr lang="ru-RU" dirty="0" err="1"/>
              <a:t>PostgreSQL</a:t>
            </a:r>
            <a:r>
              <a:rPr lang="ru-RU" dirty="0"/>
              <a:t> по умолчанию, с учетом возможности адаптации под MySQL/</a:t>
            </a:r>
            <a:r>
              <a:rPr lang="ru-RU" dirty="0" err="1"/>
              <a:t>SQLite</a:t>
            </a:r>
            <a:r>
              <a:rPr lang="ru-RU" dirty="0"/>
              <a:t>).</a:t>
            </a:r>
          </a:p>
          <a:p>
            <a:r>
              <a:rPr lang="ru-RU" dirty="0"/>
              <a:t>• Обеспечить целостность данных: определить внешние ключи, уникальные ограничения, индексы для ускорения типовых запросов.</a:t>
            </a:r>
          </a:p>
          <a:p>
            <a:r>
              <a:rPr lang="ru-RU" dirty="0"/>
              <a:t>• Реализовать базовые операции</a:t>
            </a:r>
          </a:p>
          <a:p>
            <a:r>
              <a:rPr lang="ru-RU" dirty="0"/>
              <a:t>• Разработать набор примеров запросов для отчетов</a:t>
            </a:r>
          </a:p>
          <a:p>
            <a:r>
              <a:rPr lang="ru-RU" dirty="0"/>
              <a:t>• Оценить ограничения и возможности расширения системы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89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AEBA7-D712-BFA6-B7CA-50A46352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9678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ru-RU" dirty="0"/>
              <a:t>Объект и предмет исследования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550064-CE12-20EC-B031-D18CFD87E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1522396"/>
            <a:ext cx="10890928" cy="5038824"/>
          </a:xfrm>
        </p:spPr>
        <p:txBody>
          <a:bodyPr/>
          <a:lstStyle/>
          <a:p>
            <a:r>
              <a:rPr lang="ru-RU" dirty="0"/>
              <a:t>Объект исследования: Процессы информационного обеспечения деятельности детского творческого центра, включая учет контингента, планирование занятий, мониторинг посещаемости и финансовых операций.</a:t>
            </a:r>
          </a:p>
          <a:p>
            <a:r>
              <a:rPr lang="ru-RU" dirty="0"/>
              <a:t>Предмет исследования: Методы и средства проектирования и реализации реляционной базы данных, оптимизированной для специфических требований детского образовательного учреждения.</a:t>
            </a:r>
          </a:p>
          <a:p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6D9628D-64AF-DA44-2174-BF43FAAAB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27" y="3666120"/>
            <a:ext cx="4539694" cy="302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64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B8D3C-D048-EA46-932B-2F4A59BC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9" y="195373"/>
            <a:ext cx="10890929" cy="1097280"/>
          </a:xfrm>
        </p:spPr>
        <p:txBody>
          <a:bodyPr>
            <a:normAutofit/>
          </a:bodyPr>
          <a:lstStyle/>
          <a:p>
            <a:r>
              <a:rPr lang="ru-RU" dirty="0"/>
              <a:t>Основная часть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71E6BD7-5FB6-0F16-F91B-976B02FA0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552258"/>
              </p:ext>
            </p:extLst>
          </p:nvPr>
        </p:nvGraphicFramePr>
        <p:xfrm>
          <a:off x="179405" y="1289906"/>
          <a:ext cx="9690542" cy="3222164"/>
        </p:xfrm>
        <a:graphic>
          <a:graphicData uri="http://schemas.openxmlformats.org/drawingml/2006/table">
            <a:tbl>
              <a:tblPr firstRow="1" firstCol="1" bandRow="1"/>
              <a:tblGrid>
                <a:gridCol w="3142531">
                  <a:extLst>
                    <a:ext uri="{9D8B030D-6E8A-4147-A177-3AD203B41FA5}">
                      <a16:colId xmlns:a16="http://schemas.microsoft.com/office/drawing/2014/main" val="292425720"/>
                    </a:ext>
                  </a:extLst>
                </a:gridCol>
                <a:gridCol w="6548011">
                  <a:extLst>
                    <a:ext uri="{9D8B030D-6E8A-4147-A177-3AD203B41FA5}">
                      <a16:colId xmlns:a16="http://schemas.microsoft.com/office/drawing/2014/main" val="2253117362"/>
                    </a:ext>
                  </a:extLst>
                </a:gridCol>
              </a:tblGrid>
              <a:tr h="487360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Входные данные</a:t>
                      </a:r>
                      <a:endParaRPr lang="ru-RU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Выходные данные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63"/>
                  </a:ext>
                </a:extLst>
              </a:tr>
              <a:tr h="406487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Данные о детях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Списки учеников по группам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238265"/>
                  </a:ext>
                </a:extLst>
              </a:tr>
              <a:tr h="406487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Данные о преподавателях</a:t>
                      </a:r>
                      <a:endParaRPr lang="ru-RU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Отчеты о посещаемости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9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Расписание занятий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Расписание занятий для учеников и преподавателей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8732"/>
                  </a:ext>
                </a:extLst>
              </a:tr>
              <a:tr h="68445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Информация о курсах и мастер-классах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Статистика по записям на курсы и мастер-классы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232934"/>
                  </a:ext>
                </a:extLst>
              </a:tr>
              <a:tr h="68445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Записи о посещаемости</a:t>
                      </a:r>
                      <a:endParaRPr lang="ru-RU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Финансовые отчеты по оплате курсов</a:t>
                      </a:r>
                      <a:endParaRPr lang="ru-RU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573" marR="175573" marT="81034" marB="8103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65321"/>
                  </a:ext>
                </a:extLst>
              </a:tr>
            </a:tbl>
          </a:graphicData>
        </a:graphic>
      </p:graphicFrame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19008EA8-A4C7-FBDD-DA8E-9D61DCAC79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269702"/>
              </p:ext>
            </p:extLst>
          </p:nvPr>
        </p:nvGraphicFramePr>
        <p:xfrm>
          <a:off x="6096000" y="3665755"/>
          <a:ext cx="5916595" cy="3188562"/>
        </p:xfrm>
        <a:graphic>
          <a:graphicData uri="http://schemas.openxmlformats.org/drawingml/2006/table">
            <a:tbl>
              <a:tblPr firstRow="1" firstCol="1" bandRow="1"/>
              <a:tblGrid>
                <a:gridCol w="523765">
                  <a:extLst>
                    <a:ext uri="{9D8B030D-6E8A-4147-A177-3AD203B41FA5}">
                      <a16:colId xmlns:a16="http://schemas.microsoft.com/office/drawing/2014/main" val="1380263660"/>
                    </a:ext>
                  </a:extLst>
                </a:gridCol>
                <a:gridCol w="1078566">
                  <a:extLst>
                    <a:ext uri="{9D8B030D-6E8A-4147-A177-3AD203B41FA5}">
                      <a16:colId xmlns:a16="http://schemas.microsoft.com/office/drawing/2014/main" val="1837339120"/>
                    </a:ext>
                  </a:extLst>
                </a:gridCol>
                <a:gridCol w="1078566">
                  <a:extLst>
                    <a:ext uri="{9D8B030D-6E8A-4147-A177-3AD203B41FA5}">
                      <a16:colId xmlns:a16="http://schemas.microsoft.com/office/drawing/2014/main" val="2397032702"/>
                    </a:ext>
                  </a:extLst>
                </a:gridCol>
                <a:gridCol w="1078566">
                  <a:extLst>
                    <a:ext uri="{9D8B030D-6E8A-4147-A177-3AD203B41FA5}">
                      <a16:colId xmlns:a16="http://schemas.microsoft.com/office/drawing/2014/main" val="1651536802"/>
                    </a:ext>
                  </a:extLst>
                </a:gridCol>
                <a:gridCol w="1078566">
                  <a:extLst>
                    <a:ext uri="{9D8B030D-6E8A-4147-A177-3AD203B41FA5}">
                      <a16:colId xmlns:a16="http://schemas.microsoft.com/office/drawing/2014/main" val="68480052"/>
                    </a:ext>
                  </a:extLst>
                </a:gridCol>
                <a:gridCol w="1078566">
                  <a:extLst>
                    <a:ext uri="{9D8B030D-6E8A-4147-A177-3AD203B41FA5}">
                      <a16:colId xmlns:a16="http://schemas.microsoft.com/office/drawing/2014/main" val="2179210051"/>
                    </a:ext>
                  </a:extLst>
                </a:gridCol>
              </a:tblGrid>
              <a:tr h="284238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кто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данные</a:t>
                      </a:r>
                      <a:endParaRPr lang="ru-RU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данные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данные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данные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328924"/>
                  </a:ext>
                </a:extLst>
              </a:tr>
              <a:tr h="66951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Ученик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ФИО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дата рождения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контактная информация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498498"/>
                  </a:ext>
                </a:extLst>
              </a:tr>
              <a:tr h="66951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Преподаватель</a:t>
                      </a:r>
                      <a:endParaRPr lang="ru-RU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ФИО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специализация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контактная информация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83461"/>
                  </a:ext>
                </a:extLst>
              </a:tr>
              <a:tr h="476876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Занятие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название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дата и время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место проведения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060040"/>
                  </a:ext>
                </a:extLst>
              </a:tr>
              <a:tr h="476876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Курс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название описание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стоимость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61354"/>
                  </a:ext>
                </a:extLst>
              </a:tr>
              <a:tr h="476876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Посещение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 </a:t>
                      </a: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ученика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 </a:t>
                      </a:r>
                      <a:r>
                        <a:rPr lang="ru-RU" sz="1100" b="0" i="0" u="none" strike="noStrike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занятия</a:t>
                      </a:r>
                      <a:endParaRPr lang="ru-RU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i="0" u="none" strike="noStrike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дата посещения</a:t>
                      </a:r>
                      <a:endParaRPr lang="ru-RU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25" marR="135425" marT="62504" marB="62504" anchor="ctr">
                    <a:lnL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810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70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1F856-3270-F1FC-578B-7DC59E98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892" y="2389285"/>
            <a:ext cx="4680064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400" dirty="0"/>
              <a:t>Логическая </a:t>
            </a:r>
            <a:r>
              <a:rPr lang="en-US" sz="4400" dirty="0" err="1"/>
              <a:t>структура</a:t>
            </a:r>
            <a:r>
              <a:rPr lang="en-US" sz="4400" dirty="0"/>
              <a:t> БД</a:t>
            </a:r>
            <a:br>
              <a:rPr lang="en-US" sz="4400" dirty="0"/>
            </a:br>
            <a:endParaRPr lang="en-US" sz="4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3086AC-6D44-3EFE-0964-AEEE897EB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8096" y="0"/>
            <a:ext cx="4680063" cy="68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4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CA3E8-16F1-EAEC-D1A5-ED953792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endParaRPr lang="ru-R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Объект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31A87D-9077-D977-C2BC-3885B94EE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635" t="18174" r="7258" b="11750"/>
          <a:stretch>
            <a:fillRect/>
          </a:stretch>
        </p:blipFill>
        <p:spPr bwMode="auto">
          <a:xfrm>
            <a:off x="1820397" y="483820"/>
            <a:ext cx="7699523" cy="58034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14871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5CEB3-A015-FC0D-B5AB-F1E0F617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790" y="503733"/>
            <a:ext cx="2493554" cy="1000659"/>
          </a:xfrm>
        </p:spPr>
        <p:txBody>
          <a:bodyPr anchor="t">
            <a:normAutofit/>
          </a:bodyPr>
          <a:lstStyle/>
          <a:p>
            <a:r>
              <a:rPr lang="ru-RU" dirty="0"/>
              <a:t>Вид БД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30CBB7-4979-FF4A-1BED-023871C58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9D41C3-D0AB-D7BA-E639-BD2913E00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7565" y="418393"/>
            <a:ext cx="4427570" cy="5787674"/>
          </a:xfrm>
          <a:prstGeom prst="rect">
            <a:avLst/>
          </a:prstGeom>
          <a:noFill/>
        </p:spPr>
      </p:pic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1409E4-DD1E-7A06-6600-575998E5C5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5705" y="2080921"/>
            <a:ext cx="6789400" cy="3700221"/>
          </a:xfrm>
          <a:prstGeom prst="rect">
            <a:avLst/>
          </a:prstGeom>
          <a:noFill/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821366C-D75B-846C-CA10-E8F7715C2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7781" y="2712856"/>
            <a:ext cx="4483227" cy="3585055"/>
          </a:xfrm>
        </p:spPr>
        <p:txBody>
          <a:bodyPr anchor="t">
            <a:normAutofit/>
          </a:bodyPr>
          <a:lstStyle/>
          <a:p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397081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659DB-8CE8-663C-F15F-080F45EC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3201"/>
            <a:ext cx="10890929" cy="1097280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14EE2-DD74-9F94-C98C-B97A1967F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213" y="1532804"/>
            <a:ext cx="11467253" cy="481719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ходе выполнения курсовой работы была разработана база данных для детского творческого центра, обеспечивающая эффективное управление информацией о детях, родителях, занятиях, преподавателях и мероприятиях. База данных автоматизирует процессы записи на занятия, учета посещаемости и сбора отзывов, а создание ER-диаграммы помогло четко представить структуру и функциональные возможности системы.</a:t>
            </a:r>
          </a:p>
          <a:p>
            <a:endParaRPr lang="ru-RU" dirty="0"/>
          </a:p>
          <a:p>
            <a:r>
              <a:rPr lang="ru-RU" dirty="0"/>
              <a:t>Выделенные ключевые сущности, такие как "Дети", "Родители", "Занятия", "Преподаватели", "Записи на занятия", "Мероприятия" и "Отзывы", обеспечивают гибкость и масштабируемость. Система упрощает работу сотрудников и улучшает взаимодействие с родителями и детьми, предоставляя актуальную информацию о занятиях и мероприятиях. Анализ собранных данных позволит оптимизировать программы центра в соответствии с потребностями участников.</a:t>
            </a:r>
          </a:p>
          <a:p>
            <a:endParaRPr lang="ru-RU" dirty="0"/>
          </a:p>
          <a:p>
            <a:r>
              <a:rPr lang="ru-RU" dirty="0"/>
              <a:t>В дальнейшем планируется внедрение дополнительных функций, таких как онлайн-запись на занятия и автоматизированные уведомления для родителей, что повысит удобство и полезность систем</a:t>
            </a:r>
          </a:p>
        </p:txBody>
      </p:sp>
    </p:spTree>
    <p:extLst>
      <p:ext uri="{BB962C8B-B14F-4D97-AF65-F5344CB8AC3E}">
        <p14:creationId xmlns:p14="http://schemas.microsoft.com/office/powerpoint/2010/main" val="45384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82B70-CEB0-C4D2-5DC2-B2315660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CEE91-553C-B6F1-948E-2C1FB837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72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87591628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37</TotalTime>
  <Words>474</Words>
  <Application>Microsoft Office PowerPoint</Application>
  <PresentationFormat>Широкоэкранный</PresentationFormat>
  <Paragraphs>85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Grandview Display</vt:lpstr>
      <vt:lpstr>Times New Roman</vt:lpstr>
      <vt:lpstr>DashVTI</vt:lpstr>
      <vt:lpstr>Курсовая работа   Тема: База данных для детского творческого центра </vt:lpstr>
      <vt:lpstr>Введение</vt:lpstr>
      <vt:lpstr>Цель и задачи работы </vt:lpstr>
      <vt:lpstr>Объект и предмет исследования </vt:lpstr>
      <vt:lpstr>Основная часть</vt:lpstr>
      <vt:lpstr>Логическая структура БД </vt:lpstr>
      <vt:lpstr>Презентация PowerPoint</vt:lpstr>
      <vt:lpstr>Вид БД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 Кетова</dc:creator>
  <cp:lastModifiedBy>Дарья Кетова</cp:lastModifiedBy>
  <cp:revision>1</cp:revision>
  <dcterms:created xsi:type="dcterms:W3CDTF">2025-12-18T00:19:32Z</dcterms:created>
  <dcterms:modified xsi:type="dcterms:W3CDTF">2025-12-18T00:56:35Z</dcterms:modified>
</cp:coreProperties>
</file>