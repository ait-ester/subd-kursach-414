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png" ContentType="image/png"/>
  <Override PartName="/ppt/presProps.xml" ContentType="application/vnd.openxmlformats-officedocument.presentationml.presPro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BB9821-9B17-436A-8974-D2E55805A8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03F177-AC9C-4395-ABA6-022D78428B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02A71F-A97A-4A78-AC70-FD6E64D6D3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865A8F-5A4A-4417-B1EA-94D4FB6FD0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1E5D2F2-B84A-444B-AA5B-3EB0900D19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C98976-B053-430C-AA6D-B8B21EA65FC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D3C25E-3A3C-4D6B-BA06-76712A0F73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3AE871-A509-4685-8B4B-03B1F7984A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2AAE78-F005-477C-A9EA-070C73B47C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C6D4D4-6FF7-46CB-B0B6-59A3B11166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8B03A9-F854-4679-B730-84285F0624A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C31259-DBF0-4046-9F6B-3C8BA0E3940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8671FB2-6175-4D1B-83EC-B8F0741264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66BA5BD-73FF-4D6E-B384-9464EF04E42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B8E2B8-A001-4593-81D5-8EB3C4E7D4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2CB469-A425-404C-AB07-2297E2D9296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7591300-7F52-47AA-AC5F-06FB9FC985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FB64EB-431D-42C7-B1D4-F38D5E2ABB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F5F3C5-1A6D-4C3B-B70F-7D90E533C8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CEC2B0-8DF7-49FC-9515-987903D7FE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1B7275-66FB-4002-9134-252863454B9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1BC096-7B9F-4B30-B4B1-615F130E91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676EB0-4808-40F8-9C14-F6F82D04116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ABF4517-D013-4B2A-AE38-54A525C1B24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8DDAD9C-E943-4719-B98F-FD65761FE1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6A78826-B0D2-4D73-A43B-CFD439C013B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AEAE27D-3BB3-41F3-A0FD-9A09D2ECF3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12CC36-802F-4A56-A30A-40E0F7607D6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1550687-BEB8-4358-B610-5958E4C46E6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654EAF-00B2-47B3-905F-A88A4A09004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5A283C3-047B-4104-A104-005AADCA5C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5173387-386F-49C9-A71D-A722804186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95C3C46-60F9-411E-8D0A-71A6FB9D11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FCEC24F-2B63-4ECD-8DC3-FA833C70F23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09D9166-0A74-4B46-A4D7-FC3D62466F9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2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B2C8C30-D0DC-4DF4-A1D6-60BC737993E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43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 hidden="1"/>
          <p:cNvSpPr/>
          <p:nvPr/>
        </p:nvSpPr>
        <p:spPr>
          <a:xfrm>
            <a:off x="11292840" y="0"/>
            <a:ext cx="913680" cy="685728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Rectangle 6"/>
          <p:cNvSpPr/>
          <p:nvPr/>
        </p:nvSpPr>
        <p:spPr>
          <a:xfrm>
            <a:off x="0" y="0"/>
            <a:ext cx="456480" cy="685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 rot="16200000">
            <a:off x="9959400" y="4047480"/>
            <a:ext cx="35805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11292840" y="6172200"/>
            <a:ext cx="913680" cy="592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3600" spc="-1" strike="noStrike">
                <a:solidFill>
                  <a:srgbClr val="a6a6a6"/>
                </a:solidFill>
                <a:latin typeface="Century Schoolbook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2553BC36-DD5B-43EE-AB83-61386BAD83C8}" type="slidenum">
              <a:rPr b="0" lang="ru-RU" sz="3600" spc="-1" strike="noStrike">
                <a:solidFill>
                  <a:srgbClr val="a6a6a6"/>
                </a:solidFill>
                <a:latin typeface="Century Schoolbook"/>
              </a:rPr>
              <a:t>&lt;номер&gt;</a:t>
            </a:fld>
            <a:endParaRPr b="0" lang="ru-RU" sz="3600" spc="-1" strike="noStrike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 rot="16200000">
            <a:off x="10797480" y="999360"/>
            <a:ext cx="19044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6"/>
          <p:cNvSpPr/>
          <p:nvPr/>
        </p:nvSpPr>
        <p:spPr>
          <a:xfrm>
            <a:off x="11292840" y="0"/>
            <a:ext cx="913680" cy="685728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4"/>
          </p:nvPr>
        </p:nvSpPr>
        <p:spPr>
          <a:xfrm rot="16200000">
            <a:off x="9959400" y="4047480"/>
            <a:ext cx="35805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5"/>
          </p:nvPr>
        </p:nvSpPr>
        <p:spPr>
          <a:xfrm>
            <a:off x="11292840" y="6172200"/>
            <a:ext cx="913680" cy="592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3600" spc="-1" strike="noStrike">
                <a:solidFill>
                  <a:srgbClr val="8e8e94"/>
                </a:solidFill>
                <a:latin typeface="Century Schoolbook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B6E765F7-B3DF-4CF9-A0CA-BABBEBE00BFB}" type="slidenum">
              <a:rPr b="0" lang="ru-RU" sz="3600" spc="-1" strike="noStrike">
                <a:solidFill>
                  <a:srgbClr val="8e8e94"/>
                </a:solidFill>
                <a:latin typeface="Century Schoolbook"/>
              </a:rPr>
              <a:t>&lt;номер&gt;</a:t>
            </a:fld>
            <a:endParaRPr b="0" lang="ru-RU" sz="3600" spc="-1" strike="noStrike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6"/>
          </p:nvPr>
        </p:nvSpPr>
        <p:spPr>
          <a:xfrm rot="16200000">
            <a:off x="10797480" y="999360"/>
            <a:ext cx="19044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6"/>
          <p:cNvSpPr/>
          <p:nvPr/>
        </p:nvSpPr>
        <p:spPr>
          <a:xfrm>
            <a:off x="11292840" y="0"/>
            <a:ext cx="913680" cy="685728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PlaceHolder 1"/>
          <p:cNvSpPr>
            <a:spLocks noGrp="1"/>
          </p:cNvSpPr>
          <p:nvPr>
            <p:ph type="ftr" idx="7"/>
          </p:nvPr>
        </p:nvSpPr>
        <p:spPr>
          <a:xfrm rot="16200000">
            <a:off x="9959400" y="4047480"/>
            <a:ext cx="35805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sldNum" idx="8"/>
          </p:nvPr>
        </p:nvSpPr>
        <p:spPr>
          <a:xfrm>
            <a:off x="11292840" y="6172200"/>
            <a:ext cx="913680" cy="5929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3600" spc="-1" strike="noStrike">
                <a:solidFill>
                  <a:srgbClr val="8e8e94"/>
                </a:solidFill>
                <a:latin typeface="Century Schoolbook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D34791EE-1230-48FA-A9F9-E1381BEE0450}" type="slidenum">
              <a:rPr b="0" lang="ru-RU" sz="3600" spc="-1" strike="noStrike">
                <a:solidFill>
                  <a:srgbClr val="8e8e94"/>
                </a:solidFill>
                <a:latin typeface="Century Schoolbook"/>
              </a:rPr>
              <a:t>&lt;номер&gt;</a:t>
            </a:fld>
            <a:endParaRPr b="0" lang="ru-RU" sz="3600" spc="-1" strike="noStrike">
              <a:latin typeface="Times New Roman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dt" idx="9"/>
          </p:nvPr>
        </p:nvSpPr>
        <p:spPr>
          <a:xfrm rot="16200000">
            <a:off x="10797480" y="999360"/>
            <a:ext cx="19044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1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2209680" y="231156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85000"/>
              </a:lnSpc>
              <a:buNone/>
            </a:pPr>
            <a:r>
              <a:rPr b="1" lang="ru-RU" sz="4000" spc="-52" strike="noStrike">
                <a:solidFill>
                  <a:srgbClr val="ffffff"/>
                </a:solidFill>
                <a:latin typeface="Times New Roman"/>
              </a:rPr>
              <a:t>Курсовая работа по теме: Разработка базы данных для центра по продаже автомобилей</a:t>
            </a:r>
            <a:endParaRPr b="0" lang="ru-RU" sz="4000" spc="-1" strike="noStrike">
              <a:latin typeface="Arial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2209680" y="277920"/>
            <a:ext cx="7771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Министерство образования, науки и молодежной политики Республики Коми</a:t>
            </a:r>
            <a:endParaRPr b="0" lang="ru-RU" sz="18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ГПОУ «Сыктывкарский политехнический техникум»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29" name="TextBox 4"/>
          <p:cNvSpPr/>
          <p:nvPr/>
        </p:nvSpPr>
        <p:spPr>
          <a:xfrm>
            <a:off x="7562880" y="4857840"/>
            <a:ext cx="431424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Выполнила студент 4 курса 414 группы:</a:t>
            </a:r>
            <a:endParaRPr b="0" lang="ru-RU" sz="1800" spc="-1" strike="noStrike">
              <a:latin typeface="Arial"/>
            </a:endParaRPr>
          </a:p>
          <a:p>
            <a:pPr algn="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Черных Эльвира Николаевна</a:t>
            </a:r>
            <a:endParaRPr b="0" lang="ru-RU" sz="1800" spc="-1" strike="noStrike">
              <a:latin typeface="Arial"/>
            </a:endParaRPr>
          </a:p>
          <a:p>
            <a:pPr algn="r">
              <a:lnSpc>
                <a:spcPct val="100000"/>
              </a:lnSpc>
              <a:buNone/>
            </a:pPr>
            <a:endParaRPr b="0" lang="ru-RU" sz="1800" spc="-1" strike="noStrike">
              <a:latin typeface="Arial"/>
            </a:endParaRPr>
          </a:p>
          <a:p>
            <a:pPr algn="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Проверил преподаватель:</a:t>
            </a:r>
            <a:endParaRPr b="0" lang="ru-RU" sz="1800" spc="-1" strike="noStrike">
              <a:latin typeface="Arial"/>
            </a:endParaRPr>
          </a:p>
          <a:p>
            <a:pPr algn="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Пунгин И.В.</a:t>
            </a:r>
            <a:endParaRPr b="0" lang="ru-R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664200" y="203040"/>
            <a:ext cx="998136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Цели, задачи, объект, предмет, методы</a:t>
            </a:r>
            <a:endParaRPr b="0" lang="ru-RU" sz="3600" spc="-1" strike="noStrike"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664200" y="930240"/>
            <a:ext cx="10469520" cy="52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Цель: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Проектирование и реализация реляционной БД для учета всех бизнес-процессов автомобильного центра в среде PostgreSQL.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Задачи: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Анализ предметной области.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Проектирование концептуальной (ER) модели.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Разработка логической и физической структуры БД.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Реализация проекта в СУБД PostgreSQL (таблицы, запросы, интерфейс).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Обеспечение безопасности и надежности (права доступа, резервное копирование).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Объект: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Процесс управления данными в автомобильном дилерском центре.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Предмет: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Информационная система в виде реляционной базы данных.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Методы: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Анализ, моделирование (ER-диаграммы), проектирование БД, SQL-программирование.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64200" y="537120"/>
            <a:ext cx="998136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Актуальность работы</a:t>
            </a:r>
            <a:endParaRPr b="0" lang="ru-RU" sz="3600" spc="-1" strike="noStrike">
              <a:latin typeface="Arial"/>
            </a:endParaRPr>
          </a:p>
        </p:txBody>
      </p:sp>
      <p:sp>
        <p:nvSpPr>
          <p:cNvPr id="133" name="TextBox 5"/>
          <p:cNvSpPr/>
          <p:nvPr/>
        </p:nvSpPr>
        <p:spPr>
          <a:xfrm>
            <a:off x="664200" y="1383120"/>
            <a:ext cx="10450440" cy="31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Автоматизация — ключевой фактор успеха в конкурентной среде.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Ручной учет ведет к ошибкам, потерям данных и низкой скорости работы.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Цель БД: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Создать единое информационное пространство.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Устранить дублирование и повысить целостность данных.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Ускорить процессы продаж и формирование отчетности.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Повысить качество обслуживания клиентов и управляемость бизнеса.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64200" y="521280"/>
            <a:ext cx="998136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1 — Анализ предметной области</a:t>
            </a:r>
            <a:endParaRPr b="0" lang="ru-RU" sz="3600" spc="-1" strike="noStrike">
              <a:latin typeface="Arial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664200" y="1707120"/>
            <a:ext cx="10460160" cy="34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Задача: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Провести анализ предметной области "Продажа автомобилей", выявить ключевые сущности, процессы и требования.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Определены ключевые сущности: Автомобиль, Клиент, Сделка, Поставщик, Сотрудник.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Описаны бизнес-процессы: учет авто, управление складом, работа с клиентами, оформление сделок.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Составлен перечень входных/выходных данных (характеристики авто, данные клиентов, отчеты по продажам).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Сформулированы ограничения целостности (например, цена продажи ≥ цены закупки).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64200" y="710640"/>
            <a:ext cx="1048860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2 — Проектирование концептуальной модели</a:t>
            </a:r>
            <a:endParaRPr b="0" lang="ru-RU" sz="3600" spc="-1" strike="noStrike">
              <a:latin typeface="Arial"/>
            </a:endParaRPr>
          </a:p>
        </p:txBody>
      </p:sp>
      <p:sp>
        <p:nvSpPr>
          <p:cNvPr id="137" name="TextBox 5"/>
          <p:cNvSpPr/>
          <p:nvPr/>
        </p:nvSpPr>
        <p:spPr>
          <a:xfrm>
            <a:off x="664200" y="2012040"/>
            <a:ext cx="10488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Задача: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Спроектировать инфологическую (ER) модель данных.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Определены атрибуты для каждой сущности (поля таблиц).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Установлены типы связей между сущностями (1-к-1, 1-ко-многим).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Построена ER-диаграмма (см. Приложение А), которая наглядно отображает структуру будущей БД.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Модель является основой для перехода к реляционной схеме.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64200" y="696600"/>
            <a:ext cx="1086264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3 — Разработка логической и физической структуры</a:t>
            </a:r>
            <a:endParaRPr b="0" lang="ru-RU" sz="3600" spc="-1" strike="noStrike">
              <a:latin typeface="Arial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664200" y="1707120"/>
            <a:ext cx="10393560" cy="34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Задача: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Преобразовать концептуальную модель в реляционную схему и определить физические параметры.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Логическая структура: Создана схема из 6 таблиц (cars, clients, deals, suppliers, employees, positions) с указанием связей по внешним ключам.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Физическая структура: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	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Выбраны типы данных в PostgreSQL (SERIAL, VARCHAR, NUMERIC, DATE, ENUM).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	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Запланированы индексы для ускорения поиска (по VIN, статусу авто, дате сделки).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64200" y="296640"/>
            <a:ext cx="1086264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4 — Реализация проекта в СУБД (Часть 1)</a:t>
            </a:r>
            <a:endParaRPr b="0" lang="ru-RU" sz="3600" spc="-1" strike="noStrike">
              <a:latin typeface="Arial"/>
            </a:endParaRPr>
          </a:p>
        </p:txBody>
      </p:sp>
      <p:sp>
        <p:nvSpPr>
          <p:cNvPr id="141" name="TextBox 5"/>
          <p:cNvSpPr/>
          <p:nvPr/>
        </p:nvSpPr>
        <p:spPr>
          <a:xfrm>
            <a:off x="664200" y="1707120"/>
            <a:ext cx="10393560" cy="34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Задача: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Реализовать проект в pgAdmin 4 (PostgreSQL).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Написаны и выполнены SQL-скрипты создания всех таблиц с ограничениями (PRIMARY KEY, FOREIGN KEY, CHECK).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Созданы базовые и аналитические SQL-запросы: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	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Поиск автомобилей по параметрам.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	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Отчеты по продажам и прибыли (JOIN, агрегатные функции).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Разработан интерфейс в виде SQL-представлений (VIEW) для удобства пользователей (каталог авто, отчет по продажам).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64200" y="296640"/>
            <a:ext cx="1086264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5 — Реализация проекта в СУБД (Часть 2)</a:t>
            </a:r>
            <a:endParaRPr b="0" lang="ru-RU" sz="3600" spc="-1" strike="noStrike">
              <a:latin typeface="Arial"/>
            </a:endParaRPr>
          </a:p>
        </p:txBody>
      </p:sp>
      <p:sp>
        <p:nvSpPr>
          <p:cNvPr id="143" name="TextBox 5"/>
          <p:cNvSpPr/>
          <p:nvPr/>
        </p:nvSpPr>
        <p:spPr>
          <a:xfrm>
            <a:off x="664200" y="2012040"/>
            <a:ext cx="1026972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Задача: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Обеспечить безопасность и надежность системы.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Безопасность: Внедрена ролевая модель доступа. Созданы роли car_admin, car_manager, car_warehouse с разными правами (например, менеджер не видит закупочные цены).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Производительность: Созданы индексы на ключевых полях для оптимизации работы.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Надежность: Разработана стратегия резервного копирования (ежедневные полные бэкапы + архив WAL-логов для восстановления на момент сбоя).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64200" y="296640"/>
            <a:ext cx="1086264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Демонстрация интерфейса</a:t>
            </a:r>
            <a:endParaRPr b="0" lang="ru-RU" sz="3600" spc="-1" strike="noStrike">
              <a:latin typeface="Arial"/>
            </a:endParaRPr>
          </a:p>
        </p:txBody>
      </p:sp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720000" y="1080000"/>
            <a:ext cx="9721080" cy="5179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" descr=""/>
          <p:cNvPicPr/>
          <p:nvPr/>
        </p:nvPicPr>
        <p:blipFill>
          <a:blip r:embed="rId1"/>
          <a:stretch/>
        </p:blipFill>
        <p:spPr>
          <a:xfrm>
            <a:off x="345600" y="1080000"/>
            <a:ext cx="3614040" cy="4499640"/>
          </a:xfrm>
          <a:prstGeom prst="rect">
            <a:avLst/>
          </a:prstGeom>
          <a:ln w="0">
            <a:noFill/>
          </a:ln>
        </p:spPr>
      </p:pic>
      <p:pic>
        <p:nvPicPr>
          <p:cNvPr id="147" name="" descr=""/>
          <p:cNvPicPr/>
          <p:nvPr/>
        </p:nvPicPr>
        <p:blipFill>
          <a:blip r:embed="rId2"/>
          <a:stretch/>
        </p:blipFill>
        <p:spPr>
          <a:xfrm>
            <a:off x="4140000" y="1620000"/>
            <a:ext cx="7003080" cy="3725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356040" y="296280"/>
            <a:ext cx="7203600" cy="3843360"/>
          </a:xfrm>
          <a:prstGeom prst="rect">
            <a:avLst/>
          </a:prstGeom>
          <a:ln w="0">
            <a:noFill/>
          </a:ln>
        </p:spPr>
      </p:pic>
      <p:pic>
        <p:nvPicPr>
          <p:cNvPr id="149" name="" descr=""/>
          <p:cNvPicPr/>
          <p:nvPr/>
        </p:nvPicPr>
        <p:blipFill>
          <a:blip r:embed="rId2"/>
          <a:stretch/>
        </p:blipFill>
        <p:spPr>
          <a:xfrm>
            <a:off x="4012200" y="2700000"/>
            <a:ext cx="7147440" cy="3808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" descr=""/>
          <p:cNvPicPr/>
          <p:nvPr/>
        </p:nvPicPr>
        <p:blipFill>
          <a:blip r:embed="rId1"/>
          <a:stretch/>
        </p:blipFill>
        <p:spPr>
          <a:xfrm>
            <a:off x="360000" y="360000"/>
            <a:ext cx="5241240" cy="5965920"/>
          </a:xfrm>
          <a:prstGeom prst="rect">
            <a:avLst/>
          </a:prstGeom>
          <a:ln w="0">
            <a:noFill/>
          </a:ln>
        </p:spPr>
      </p:pic>
      <p:pic>
        <p:nvPicPr>
          <p:cNvPr id="151" name="" descr=""/>
          <p:cNvPicPr/>
          <p:nvPr/>
        </p:nvPicPr>
        <p:blipFill>
          <a:blip r:embed="rId2"/>
          <a:stretch/>
        </p:blipFill>
        <p:spPr>
          <a:xfrm>
            <a:off x="5865120" y="360000"/>
            <a:ext cx="5114520" cy="593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356040" y="360000"/>
            <a:ext cx="10803600" cy="5747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664200" y="296640"/>
            <a:ext cx="10862640" cy="7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Выводы по работе</a:t>
            </a:r>
            <a:endParaRPr b="0" lang="ru-RU" sz="3600" spc="-1" strike="noStrike">
              <a:latin typeface="Arial"/>
            </a:endParaRPr>
          </a:p>
        </p:txBody>
      </p:sp>
      <p:sp>
        <p:nvSpPr>
          <p:cNvPr id="154" name="TextBox 1"/>
          <p:cNvSpPr/>
          <p:nvPr/>
        </p:nvSpPr>
        <p:spPr>
          <a:xfrm>
            <a:off x="664200" y="1554480"/>
            <a:ext cx="10422000" cy="37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Цель работы достигнута: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Спроектирована и реализована реляционная БД для автомобильного центра.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Результаты: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Создана нормализованная структура данных (6 таблиц).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Реализована бизнес-логика через ограничения целостности.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Обеспечен удобный доступ через представления и запросы.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Внедрены механизмы безопасности и отказоустойчивости.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Заключение: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Разработанная база данных является готовым прототипом информационной системы, которая может быть внедрена в реальный бизнес-процесс и масштабирована.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Рисунок 2" descr=""/>
          <p:cNvPicPr/>
          <p:nvPr/>
        </p:nvPicPr>
        <p:blipFill>
          <a:blip r:embed="rId1"/>
          <a:stretch/>
        </p:blipFill>
        <p:spPr>
          <a:xfrm>
            <a:off x="3695760" y="1952640"/>
            <a:ext cx="4799880" cy="4799880"/>
          </a:xfrm>
          <a:prstGeom prst="rect">
            <a:avLst/>
          </a:prstGeom>
          <a:ln w="0">
            <a:noFill/>
          </a:ln>
        </p:spPr>
      </p:pic>
      <p:sp>
        <p:nvSpPr>
          <p:cNvPr id="156" name="TextBox 4"/>
          <p:cNvSpPr/>
          <p:nvPr/>
        </p:nvSpPr>
        <p:spPr>
          <a:xfrm>
            <a:off x="1928880" y="968400"/>
            <a:ext cx="83336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4000" spc="-1" strike="noStrike">
                <a:solidFill>
                  <a:srgbClr val="000000"/>
                </a:solidFill>
                <a:latin typeface="Century Schoolbook"/>
                <a:ea typeface="DejaVu Sans"/>
              </a:rPr>
              <a:t>СПАСИБО ЗА ВНИМАНИЕ!</a:t>
            </a:r>
            <a:endParaRPr b="0" lang="ru-RU" sz="4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TM03457515[[fn=Вид]]</Template>
  <TotalTime>124</TotalTime>
  <Application>LibreOffice/7.3.7.2$Linux_X86_64 LibreOffice_project/30$Build-2</Application>
  <AppVersion>15.0000</AppVersion>
  <Words>688</Words>
  <Paragraphs>91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2025-12-18T00:52:31Z</dcterms:created>
  <dc:creator>Богдан</dc:creator>
  <dc:description/>
  <dc:language>ru-RU</dc:language>
  <cp:lastModifiedBy/>
  <dcterms:modified xsi:type="dcterms:W3CDTF">2025-12-18T10:44:34Z</dcterms:modified>
  <cp:revision>3</cp:revision>
  <dc:subject/>
  <dc:title>Курсовая работа по теме: Разработка базы данных для центра по продаже автомобилей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i4>10</vt:i4>
  </property>
</Properties>
</file>