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png" ContentType="image/png"/>
  <Override PartName="/ppt/presProps.xml" ContentType="application/vnd.openxmlformats-officedocument.presentationml.presPro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D2DDCF1-EBD9-4BE7-8140-77F3D9A4721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DD64398-F271-4C25-A3D8-A690383AC09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D001CBE-57A7-4086-BA54-955E7CE22F1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FC00FF6-8331-4606-9D6E-05BB1417532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94BC89C-6595-438F-9D66-4AB96004CA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965AC02-B94B-4F8C-B8E7-B989E6666BF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2C442AC-57ED-453A-8B69-EF588E63E9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9B04D55-EA85-4C32-917A-1251AB388F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54E6DDD-6642-4FC9-99E9-F18A4CA7D3E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CBD3304-95D2-4992-8FD8-2E95955147E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E3FB46B-C546-4FC2-BF11-AFC6D64F5BD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5A8DDE3-18DF-42F7-A00F-BEE953387D2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66E5297-33BF-4FD4-8D8F-90951A67F92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D9B2B8F-0EB4-401B-9BC1-0BBE319B4B7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F7DBA2F-6014-4B8C-AFED-91088FBD66F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83FCA5F-4A01-4EDF-B31B-05924476D3B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9768C45-B3E3-42D9-8813-DF21F1145C7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F89394B-235D-4CCE-A641-148A41DF9F7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B3D3E6E-7E47-40FD-91CD-515BF00BC0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C4E8669-D9B8-41F0-B04B-67AD5F9E72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3A80DDC-4440-44A8-8D6C-D3A8855C9E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4723074-F69B-4D9F-A059-EED1EB2CF26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95AFF09-4D94-4219-A57E-2B7F6394DEF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29DB8E9-ECC2-4EF2-A4C2-F3E5B1348C8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BCA1DDAF-B9BA-4AF9-9A06-375142FF135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2787CF6-4E66-438B-A274-D61B0ECE928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1E5E9577-1D24-469B-8DA0-F15EA19268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FCA7A4F-08C3-43A8-9D1E-AF9A4C65AC9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70773E8-F77D-4863-AC04-CCA40CB238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BDD0D6D-B073-41F8-A53F-46063F7B786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3E9E5E4-1F56-4CDA-B8D0-AC9BA2FD60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6A64BDB-F2BA-48CC-B6CF-E44AB1FE706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D05E3C0-9C05-4ECC-A1E9-AA42777C646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D0F1686-A066-4C5A-99E5-9BA0B80B6CF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19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D6FC244-2F7C-43ED-BD09-76984426443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25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26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5000"/>
              </a:lnSpc>
              <a:spcBef>
                <a:spcPts val="1417"/>
              </a:spcBef>
              <a:buNone/>
            </a:pP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9161B28-0862-4D42-A10B-1BCA9053DC0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43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6" hidden="1"/>
          <p:cNvSpPr/>
          <p:nvPr/>
        </p:nvSpPr>
        <p:spPr>
          <a:xfrm>
            <a:off x="11292840" y="0"/>
            <a:ext cx="914040" cy="685764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1261800" y="758880"/>
            <a:ext cx="9417960" cy="40413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>
              <a:lnSpc>
                <a:spcPct val="85000"/>
              </a:lnSpc>
              <a:buNone/>
            </a:pPr>
            <a:r>
              <a:rPr b="0" lang="ru-RU" sz="7200" spc="-52" strike="noStrike">
                <a:solidFill>
                  <a:srgbClr val="ffffff"/>
                </a:solidFill>
                <a:latin typeface="Century Schoolbook"/>
              </a:rPr>
              <a:t>Образец заголовка</a:t>
            </a:r>
            <a:endParaRPr b="0" lang="en-US" sz="7200" spc="-1" strike="noStrike">
              <a:solidFill>
                <a:srgbClr val="ffffff"/>
              </a:solidFill>
              <a:latin typeface="Century Schoolbook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 rot="16200000">
            <a:off x="10797480" y="999000"/>
            <a:ext cx="1904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ru-RU" sz="1050" spc="-1" strike="noStrike">
                <a:solidFill>
                  <a:srgbClr val="808080"/>
                </a:solidFill>
                <a:latin typeface="Century Schoolbook"/>
              </a:defRPr>
            </a:lvl1pPr>
          </a:lstStyle>
          <a:p>
            <a:pPr algn="r">
              <a:lnSpc>
                <a:spcPct val="100000"/>
              </a:lnSpc>
              <a:buNone/>
            </a:pPr>
            <a:r>
              <a:rPr b="0" lang="ru-RU" sz="1050" spc="-1" strike="noStrike">
                <a:solidFill>
                  <a:srgbClr val="808080"/>
                </a:solidFill>
                <a:latin typeface="Century Schoolbook"/>
              </a:rPr>
              <a:t>&lt;дата/время&gt;</a:t>
            </a:r>
            <a:endParaRPr b="0" lang="ru-RU" sz="1050" spc="-1" strike="noStrike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 rot="16200000">
            <a:off x="9959400" y="4047120"/>
            <a:ext cx="35809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11292840" y="6172200"/>
            <a:ext cx="914040" cy="59328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3600" spc="-1" strike="noStrike">
                <a:solidFill>
                  <a:srgbClr val="a6a6a6"/>
                </a:solidFill>
                <a:latin typeface="Century Schoolbook"/>
              </a:defRPr>
            </a:lvl1pPr>
          </a:lstStyle>
          <a:p>
            <a:pPr algn="ctr">
              <a:lnSpc>
                <a:spcPct val="100000"/>
              </a:lnSpc>
              <a:buNone/>
            </a:pPr>
            <a:fld id="{5E06944A-5A54-43A8-A164-4F5BC804EEF4}" type="slidenum">
              <a:rPr b="0" lang="ru-RU" sz="3600" spc="-1" strike="noStrike">
                <a:solidFill>
                  <a:srgbClr val="a6a6a6"/>
                </a:solidFill>
                <a:latin typeface="Century Schoolbook"/>
              </a:rPr>
              <a:t>&lt;номер&gt;</a:t>
            </a:fld>
            <a:endParaRPr b="0" lang="ru-RU" sz="3600" spc="-1" strike="noStrike">
              <a:latin typeface="Times New Roman"/>
            </a:endParaRPr>
          </a:p>
        </p:txBody>
      </p:sp>
      <p:sp>
        <p:nvSpPr>
          <p:cNvPr id="5" name="Rectangle 6"/>
          <p:cNvSpPr/>
          <p:nvPr/>
        </p:nvSpPr>
        <p:spPr>
          <a:xfrm>
            <a:off x="0" y="0"/>
            <a:ext cx="456840" cy="6857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5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9" strike="noStrike">
                <a:solidFill>
                  <a:srgbClr val="ffffff"/>
                </a:solidFill>
                <a:latin typeface="Century Schoolbook"/>
              </a:rPr>
              <a:t>Для правки структуры щёлкните мышью</a:t>
            </a:r>
            <a:endParaRPr b="0" lang="en-US" sz="1800" spc="9" strike="noStrike">
              <a:solidFill>
                <a:srgbClr val="ffffff"/>
              </a:solidFill>
              <a:latin typeface="Century Schoolbook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ffffff"/>
                </a:solidFill>
                <a:latin typeface="Century Schoolbook"/>
              </a:rPr>
              <a:t>Второй уровень структуры</a:t>
            </a:r>
            <a:endParaRPr b="0" lang="en-US" sz="1400" spc="-1" strike="noStrike">
              <a:solidFill>
                <a:srgbClr val="ffffff"/>
              </a:solidFill>
              <a:latin typeface="Century Schoolbook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ffffff"/>
                </a:solidFill>
                <a:latin typeface="Century Schoolbook"/>
              </a:rPr>
              <a:t>Третий уровень структуры</a:t>
            </a:r>
            <a:endParaRPr b="0" lang="en-US" sz="1400" spc="-1" strike="noStrike">
              <a:solidFill>
                <a:srgbClr val="ffffff"/>
              </a:solidFill>
              <a:latin typeface="Century Schoolbook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ffffff"/>
                </a:solidFill>
                <a:latin typeface="Century Schoolbook"/>
              </a:rPr>
              <a:t>Четвёртый уровень структуры</a:t>
            </a:r>
            <a:endParaRPr b="0" lang="en-US" sz="1400" spc="-1" strike="noStrike">
              <a:solidFill>
                <a:srgbClr val="ffffff"/>
              </a:solidFill>
              <a:latin typeface="Century Schoolbook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Century Schoolbook"/>
              </a:rPr>
              <a:t>Пятый уровень структуры</a:t>
            </a:r>
            <a:endParaRPr b="0" lang="en-US" sz="2000" spc="-1" strike="noStrike">
              <a:solidFill>
                <a:srgbClr val="ffffff"/>
              </a:solidFill>
              <a:latin typeface="Century Schoolbook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Century Schoolbook"/>
              </a:rPr>
              <a:t>Шестой уровень структуры</a:t>
            </a:r>
            <a:endParaRPr b="0" lang="en-US" sz="2000" spc="-1" strike="noStrike">
              <a:solidFill>
                <a:srgbClr val="ffffff"/>
              </a:solidFill>
              <a:latin typeface="Century Schoolbook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Century Schoolbook"/>
              </a:rPr>
              <a:t>Седьмой уровень структуры</a:t>
            </a:r>
            <a:endParaRPr b="0" lang="en-US" sz="2000" spc="-1" strike="noStrike">
              <a:solidFill>
                <a:srgbClr val="ffffff"/>
              </a:solidFill>
              <a:latin typeface="Century School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6"/>
          <p:cNvSpPr/>
          <p:nvPr/>
        </p:nvSpPr>
        <p:spPr>
          <a:xfrm>
            <a:off x="11292840" y="0"/>
            <a:ext cx="914040" cy="685764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261800" y="365760"/>
            <a:ext cx="9692280" cy="1325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ru-RU" sz="4400" spc="-52" strike="noStrike">
                <a:solidFill>
                  <a:srgbClr val="000000"/>
                </a:solidFill>
                <a:latin typeface="Century Schoolbook"/>
              </a:rPr>
              <a:t>Образец заголовка</a:t>
            </a:r>
            <a:endParaRPr b="0" lang="en-US" sz="44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dt" idx="4"/>
          </p:nvPr>
        </p:nvSpPr>
        <p:spPr>
          <a:xfrm rot="16200000">
            <a:off x="10797480" y="999000"/>
            <a:ext cx="1904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ru-RU" sz="1050" spc="-1" strike="noStrike">
                <a:solidFill>
                  <a:srgbClr val="d9d9db"/>
                </a:solidFill>
                <a:latin typeface="Century Schoolbook"/>
              </a:defRPr>
            </a:lvl1pPr>
          </a:lstStyle>
          <a:p>
            <a:pPr algn="r">
              <a:lnSpc>
                <a:spcPct val="100000"/>
              </a:lnSpc>
              <a:buNone/>
            </a:pPr>
            <a:r>
              <a:rPr b="0" lang="ru-RU" sz="1050" spc="-1" strike="noStrike">
                <a:solidFill>
                  <a:srgbClr val="d9d9db"/>
                </a:solidFill>
                <a:latin typeface="Century Schoolbook"/>
              </a:rPr>
              <a:t>&lt;дата/время&gt;</a:t>
            </a:r>
            <a:endParaRPr b="0" lang="ru-RU" sz="1050" spc="-1" strike="noStrike"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5"/>
          </p:nvPr>
        </p:nvSpPr>
        <p:spPr>
          <a:xfrm rot="16200000">
            <a:off x="9959400" y="4047120"/>
            <a:ext cx="35809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6"/>
          </p:nvPr>
        </p:nvSpPr>
        <p:spPr>
          <a:xfrm>
            <a:off x="11292840" y="6172200"/>
            <a:ext cx="914040" cy="59328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3600" spc="-1" strike="noStrike">
                <a:solidFill>
                  <a:srgbClr val="8e8e94"/>
                </a:solidFill>
                <a:latin typeface="Century Schoolbook"/>
              </a:defRPr>
            </a:lvl1pPr>
          </a:lstStyle>
          <a:p>
            <a:pPr algn="ctr">
              <a:lnSpc>
                <a:spcPct val="100000"/>
              </a:lnSpc>
              <a:buNone/>
            </a:pPr>
            <a:fld id="{7017DB2D-96ED-4ED3-9BCF-0A68F86A64E2}" type="slidenum">
              <a:rPr b="0" lang="ru-RU" sz="3600" spc="-1" strike="noStrike">
                <a:solidFill>
                  <a:srgbClr val="8e8e94"/>
                </a:solidFill>
                <a:latin typeface="Century Schoolbook"/>
              </a:rPr>
              <a:t>&lt;номер&gt;</a:t>
            </a:fld>
            <a:endParaRPr b="0" lang="ru-RU" sz="3600" spc="-1" strike="noStrike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9" strike="noStrike">
                <a:solidFill>
                  <a:srgbClr val="000000"/>
                </a:solidFill>
                <a:latin typeface="Century Schoolbook"/>
              </a:rPr>
              <a:t>Для правки структуры щёлкните мышью</a:t>
            </a: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262626"/>
                </a:solidFill>
                <a:latin typeface="Century Schoolbook"/>
              </a:rPr>
              <a:t>Второй уровень структуры</a:t>
            </a:r>
            <a:endParaRPr b="0" lang="en-US" sz="1400" spc="-1" strike="noStrike">
              <a:solidFill>
                <a:srgbClr val="262626"/>
              </a:solidFill>
              <a:latin typeface="Century Schoolbook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262626"/>
                </a:solidFill>
                <a:latin typeface="Century Schoolbook"/>
              </a:rPr>
              <a:t>Третий уровень структуры</a:t>
            </a:r>
            <a:endParaRPr b="0" lang="en-US" sz="1400" spc="-1" strike="noStrike">
              <a:solidFill>
                <a:srgbClr val="262626"/>
              </a:solidFill>
              <a:latin typeface="Century Schoolbook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262626"/>
                </a:solidFill>
                <a:latin typeface="Century Schoolbook"/>
              </a:rPr>
              <a:t>Четвёртый уровень структуры</a:t>
            </a:r>
            <a:endParaRPr b="0" lang="en-US" sz="1400" spc="-1" strike="noStrike">
              <a:solidFill>
                <a:srgbClr val="262626"/>
              </a:solidFill>
              <a:latin typeface="Century Schoolbook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262626"/>
                </a:solidFill>
                <a:latin typeface="Century Schoolbook"/>
              </a:rPr>
              <a:t>Пятый уровень структуры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262626"/>
                </a:solidFill>
                <a:latin typeface="Century Schoolbook"/>
              </a:rPr>
              <a:t>Шестой уровень структуры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262626"/>
                </a:solidFill>
                <a:latin typeface="Century Schoolbook"/>
              </a:rPr>
              <a:t>Седьмой уровень структуры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6"/>
          <p:cNvSpPr/>
          <p:nvPr/>
        </p:nvSpPr>
        <p:spPr>
          <a:xfrm>
            <a:off x="11292840" y="0"/>
            <a:ext cx="914040" cy="685764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6" name="PlaceHolder 1"/>
          <p:cNvSpPr>
            <a:spLocks noGrp="1"/>
          </p:cNvSpPr>
          <p:nvPr>
            <p:ph type="dt" idx="7"/>
          </p:nvPr>
        </p:nvSpPr>
        <p:spPr>
          <a:xfrm rot="16200000">
            <a:off x="10797480" y="999000"/>
            <a:ext cx="1904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ru-RU" sz="1050" spc="-1" strike="noStrike">
                <a:solidFill>
                  <a:srgbClr val="d9d9db"/>
                </a:solidFill>
                <a:latin typeface="Century Schoolbook"/>
              </a:defRPr>
            </a:lvl1pPr>
          </a:lstStyle>
          <a:p>
            <a:pPr algn="r">
              <a:lnSpc>
                <a:spcPct val="100000"/>
              </a:lnSpc>
              <a:buNone/>
            </a:pPr>
            <a:r>
              <a:rPr b="0" lang="ru-RU" sz="1050" spc="-1" strike="noStrike">
                <a:solidFill>
                  <a:srgbClr val="d9d9db"/>
                </a:solidFill>
                <a:latin typeface="Century Schoolbook"/>
              </a:rPr>
              <a:t>&lt;дата/время&gt;</a:t>
            </a:r>
            <a:endParaRPr b="0" lang="ru-RU" sz="1050" spc="-1" strike="noStrike">
              <a:latin typeface="Times New Roman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ftr" idx="8"/>
          </p:nvPr>
        </p:nvSpPr>
        <p:spPr>
          <a:xfrm rot="16200000">
            <a:off x="9959400" y="4047120"/>
            <a:ext cx="35809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9"/>
          </p:nvPr>
        </p:nvSpPr>
        <p:spPr>
          <a:xfrm>
            <a:off x="11292840" y="6172200"/>
            <a:ext cx="914040" cy="59328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3600" spc="-1" strike="noStrike">
                <a:solidFill>
                  <a:srgbClr val="8e8e94"/>
                </a:solidFill>
                <a:latin typeface="Century Schoolbook"/>
              </a:defRPr>
            </a:lvl1pPr>
          </a:lstStyle>
          <a:p>
            <a:pPr algn="ctr">
              <a:lnSpc>
                <a:spcPct val="100000"/>
              </a:lnSpc>
              <a:buNone/>
            </a:pPr>
            <a:fld id="{809EC387-7C56-4661-8FAF-F5851B4ECEDA}" type="slidenum">
              <a:rPr b="0" lang="ru-RU" sz="3600" spc="-1" strike="noStrike">
                <a:solidFill>
                  <a:srgbClr val="8e8e94"/>
                </a:solidFill>
                <a:latin typeface="Century Schoolbook"/>
              </a:rPr>
              <a:t>&lt;номер&gt;</a:t>
            </a:fld>
            <a:endParaRPr b="0" lang="ru-RU" sz="3600" spc="-1" strike="noStrike"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entury Schoolbook"/>
              </a:rPr>
              <a:t>Для правки текста заглавия щёлкните мышью</a:t>
            </a:r>
            <a:endParaRPr b="0" lang="en-US" sz="18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9" strike="noStrike">
                <a:solidFill>
                  <a:srgbClr val="000000"/>
                </a:solidFill>
                <a:latin typeface="Century Schoolbook"/>
              </a:rPr>
              <a:t>Для правки структуры щёлкните мышью</a:t>
            </a:r>
            <a:endParaRPr b="0" lang="en-US" sz="1800" spc="9" strike="noStrike">
              <a:solidFill>
                <a:srgbClr val="000000"/>
              </a:solidFill>
              <a:latin typeface="Century Schoolbook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262626"/>
                </a:solidFill>
                <a:latin typeface="Century Schoolbook"/>
              </a:rPr>
              <a:t>Второй уровень структуры</a:t>
            </a:r>
            <a:endParaRPr b="0" lang="en-US" sz="1400" spc="-1" strike="noStrike">
              <a:solidFill>
                <a:srgbClr val="262626"/>
              </a:solidFill>
              <a:latin typeface="Century Schoolbook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262626"/>
                </a:solidFill>
                <a:latin typeface="Century Schoolbook"/>
              </a:rPr>
              <a:t>Третий уровень структуры</a:t>
            </a:r>
            <a:endParaRPr b="0" lang="en-US" sz="1400" spc="-1" strike="noStrike">
              <a:solidFill>
                <a:srgbClr val="262626"/>
              </a:solidFill>
              <a:latin typeface="Century Schoolbook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262626"/>
                </a:solidFill>
                <a:latin typeface="Century Schoolbook"/>
              </a:rPr>
              <a:t>Четвёртый уровень структуры</a:t>
            </a:r>
            <a:endParaRPr b="0" lang="en-US" sz="1400" spc="-1" strike="noStrike">
              <a:solidFill>
                <a:srgbClr val="262626"/>
              </a:solidFill>
              <a:latin typeface="Century Schoolbook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262626"/>
                </a:solidFill>
                <a:latin typeface="Century Schoolbook"/>
              </a:rPr>
              <a:t>Пятый уровень структуры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262626"/>
                </a:solidFill>
                <a:latin typeface="Century Schoolbook"/>
              </a:rPr>
              <a:t>Шестой уровень структуры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262626"/>
                </a:solidFill>
                <a:latin typeface="Century Schoolbook"/>
              </a:rPr>
              <a:t>Седьмой уровень структуры</a:t>
            </a:r>
            <a:endParaRPr b="0" lang="en-US" sz="2000" spc="-1" strike="noStrike">
              <a:solidFill>
                <a:srgbClr val="262626"/>
              </a:solidFill>
              <a:latin typeface="Century School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1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1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image" Target="../media/image7.jpeg"/><Relationship Id="rId3" Type="http://schemas.openxmlformats.org/officeDocument/2006/relationships/slideLayout" Target="../slideLayouts/slideLayout1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2209680" y="231156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85000"/>
              </a:lnSpc>
              <a:buNone/>
            </a:pPr>
            <a:r>
              <a:rPr b="1" lang="ru-RU" sz="4000" spc="-52" strike="noStrike">
                <a:solidFill>
                  <a:srgbClr val="ffffff"/>
                </a:solidFill>
                <a:latin typeface="Times New Roman"/>
              </a:rPr>
              <a:t>Курсовая работа по теме: Разработка базы данных для центра по продаже автомобилей</a:t>
            </a:r>
            <a:endParaRPr b="0" lang="en-US" sz="4000" spc="-1" strike="noStrike">
              <a:solidFill>
                <a:srgbClr val="ffffff"/>
              </a:solidFill>
              <a:latin typeface="Century Schoolbook"/>
            </a:endParaRPr>
          </a:p>
        </p:txBody>
      </p:sp>
      <p:sp>
        <p:nvSpPr>
          <p:cNvPr id="128" name="TextBox 3"/>
          <p:cNvSpPr/>
          <p:nvPr/>
        </p:nvSpPr>
        <p:spPr>
          <a:xfrm>
            <a:off x="2209680" y="277920"/>
            <a:ext cx="77720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Times New Roman"/>
              </a:rPr>
              <a:t>Министерство образования, науки и молодежной политики Республики Коми</a:t>
            </a:r>
            <a:endParaRPr b="0" lang="ru-RU" sz="18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Times New Roman"/>
              </a:rPr>
              <a:t>ГПОУ «Сыктывкарский политехнический техникум»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29" name="TextBox 4"/>
          <p:cNvSpPr/>
          <p:nvPr/>
        </p:nvSpPr>
        <p:spPr>
          <a:xfrm>
            <a:off x="7562880" y="4857840"/>
            <a:ext cx="43146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Times New Roman"/>
              </a:rPr>
              <a:t>Выполнила студент 4 курса 414 группы:</a:t>
            </a:r>
            <a:endParaRPr b="0" lang="ru-RU" sz="1800" spc="-1" strike="noStrike">
              <a:latin typeface="Arial"/>
            </a:endParaRPr>
          </a:p>
          <a:p>
            <a:pPr algn="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Times New Roman"/>
              </a:rPr>
              <a:t>Черных Эльвира Николаевна</a:t>
            </a:r>
            <a:endParaRPr b="0" lang="ru-RU" sz="1800" spc="-1" strike="noStrike">
              <a:latin typeface="Arial"/>
            </a:endParaRPr>
          </a:p>
          <a:p>
            <a:pPr algn="r">
              <a:lnSpc>
                <a:spcPct val="100000"/>
              </a:lnSpc>
              <a:buNone/>
            </a:pPr>
            <a:endParaRPr b="0" lang="ru-RU" sz="1800" spc="-1" strike="noStrike">
              <a:latin typeface="Arial"/>
            </a:endParaRPr>
          </a:p>
          <a:p>
            <a:pPr algn="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Times New Roman"/>
              </a:rPr>
              <a:t>Проверил преподаватель:</a:t>
            </a:r>
            <a:endParaRPr b="0" lang="ru-RU" sz="1800" spc="-1" strike="noStrike">
              <a:latin typeface="Arial"/>
            </a:endParaRPr>
          </a:p>
          <a:p>
            <a:pPr algn="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Times New Roman"/>
              </a:rPr>
              <a:t>Пунгин И.В.</a:t>
            </a:r>
            <a:endParaRPr b="0" lang="ru-RU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664200" y="203040"/>
            <a:ext cx="9981720" cy="701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Цели, задачи, объект, предмет, методы</a:t>
            </a:r>
            <a:endParaRPr b="0" lang="en-US" sz="36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664200" y="930240"/>
            <a:ext cx="10469880" cy="527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Цель: 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Проектирование и реализация реляционной БД для учета всех бизнес-процессов автомобильного центра в среде PostgreSQL.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Задачи:</a:t>
            </a:r>
            <a:endParaRPr b="0" lang="ru-RU" sz="2000" spc="-1" strike="noStrike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Анализ предметной области.</a:t>
            </a:r>
            <a:endParaRPr b="0" lang="ru-RU" sz="2000" spc="-1" strike="noStrike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Проектирование концептуальной (ER) модели.</a:t>
            </a:r>
            <a:endParaRPr b="0" lang="ru-RU" sz="2000" spc="-1" strike="noStrike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Разработка логической и физической структуры БД.</a:t>
            </a:r>
            <a:endParaRPr b="0" lang="ru-RU" sz="2000" spc="-1" strike="noStrike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Реализация проекта в СУБД PostgreSQL (таблицы, запросы, интерфейс).</a:t>
            </a:r>
            <a:endParaRPr b="0" lang="ru-RU" sz="2000" spc="-1" strike="noStrike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Обеспечение безопасности и надежности (права доступа, резервное копирование).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Объект: 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Процесс управления данными в автомобильном дилерском центре.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Предмет: 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Информационная система в виде реляционной базы данных.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Методы: 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Анализ, моделирование (ER-диаграммы), проектирование БД, SQL-программирование.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64200" y="537120"/>
            <a:ext cx="9981720" cy="701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Актуальность работы</a:t>
            </a:r>
            <a:endParaRPr b="0" lang="en-US" sz="36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33" name="TextBox 5"/>
          <p:cNvSpPr/>
          <p:nvPr/>
        </p:nvSpPr>
        <p:spPr>
          <a:xfrm>
            <a:off x="664200" y="1383120"/>
            <a:ext cx="10450800" cy="31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Автоматизация — ключевой фактор успеха в конкурентной среде.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Ручной учет ведет к ошибкам, потерям данных и низкой скорости работы.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Цель БД: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Создать единое информационное пространство.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Устранить дублирование и повысить целостность данных.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Ускорить процессы продаж и формирование отчетности.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Повысить качество обслуживания клиентов и управляемость бизнеса.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64200" y="521280"/>
            <a:ext cx="9981720" cy="701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Задача 1 — Анализ предметной области</a:t>
            </a:r>
            <a:endParaRPr b="0" lang="en-US" sz="36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35" name="TextBox 5"/>
          <p:cNvSpPr/>
          <p:nvPr/>
        </p:nvSpPr>
        <p:spPr>
          <a:xfrm>
            <a:off x="664200" y="1707120"/>
            <a:ext cx="10460520" cy="34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Задача: 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Провести анализ предметной области "Продажа автомобилей", выявить ключевые сущности, процессы и требования.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Результат (Что сделано):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Определены ключевые сущности: Автомобиль, Клиент, Сделка, Поставщик, Сотрудник.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Описаны бизнес-процессы: учет авто, управление складом, работа с клиентами, оформление сделок.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Составлен перечень входных/выходных данных (характеристики авто, данные клиентов, отчеты по продажам).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Сформулированы ограничения целостности (например, цена продажи ≥ цены закупки).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664200" y="710640"/>
            <a:ext cx="10488960" cy="701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Задача 2 — Проектирование концептуальной модели</a:t>
            </a:r>
            <a:endParaRPr b="0" lang="en-US" sz="36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37" name="TextBox 5"/>
          <p:cNvSpPr/>
          <p:nvPr/>
        </p:nvSpPr>
        <p:spPr>
          <a:xfrm>
            <a:off x="664200" y="2012040"/>
            <a:ext cx="1048896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Задача: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 Спроектировать инфологическую (ER) модель данных.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Результат (Что сделано):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Определены атрибуты для каждой сущности (поля таблиц).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Установлены типы связей между сущностями (1-к-1, 1-ко-многим).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Построена ER-диаграмма (см. Приложение А), которая наглядно отображает структуру будущей БД.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Модель является основой для перехода к реляционной схеме.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64200" y="696600"/>
            <a:ext cx="10863000" cy="701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Задача 3 — Разработка логической и физической структуры</a:t>
            </a:r>
            <a:endParaRPr b="0" lang="en-US" sz="36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39" name="TextBox 5"/>
          <p:cNvSpPr/>
          <p:nvPr/>
        </p:nvSpPr>
        <p:spPr>
          <a:xfrm>
            <a:off x="664200" y="1707120"/>
            <a:ext cx="10393920" cy="34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Задача: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 Преобразовать концептуальную модель в реляционную схему и определить физические параметры.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Результат (Что сделано):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Логическая структура: Создана схема из 6 таблиц (cars, clients, deals, suppliers, employees, positions) с указанием связей по внешним ключам.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Физическая структура: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	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Выбраны типы данных в PostgreSQL (SERIAL, VARCHAR, NUMERIC, DATE, ENUM).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	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Запланированы индексы для ускорения поиска (по VIN, статусу авто, дате сделки).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64200" y="296640"/>
            <a:ext cx="10863000" cy="701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Задача 4 — Реализация проекта в СУБД (Часть 1)</a:t>
            </a:r>
            <a:endParaRPr b="0" lang="en-US" sz="36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41" name="TextBox 5"/>
          <p:cNvSpPr/>
          <p:nvPr/>
        </p:nvSpPr>
        <p:spPr>
          <a:xfrm>
            <a:off x="664200" y="1707120"/>
            <a:ext cx="10393920" cy="34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Задача: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 Реализовать проект в pgAdmin 4 (PostgreSQL).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Результат (Что сделано):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Написаны и выполнены SQL-скрипты создания всех таблиц с ограничениями (PRIMARY KEY, FOREIGN KEY, CHECK).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Созданы базовые и аналитические SQL-запросы: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	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Поиск автомобилей по параметрам.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	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Отчеты по продажам и прибыли (JOIN, агрегатные функции).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Разработан интерфейс в виде SQL-представлений (VIEW) для удобства пользователей (каталог авто, отчет по продажам).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664200" y="296640"/>
            <a:ext cx="10863000" cy="701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Задача 5 — Реализация проекта в СУБД (Часть 2)</a:t>
            </a:r>
            <a:endParaRPr b="0" lang="en-US" sz="36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43" name="TextBox 5"/>
          <p:cNvSpPr/>
          <p:nvPr/>
        </p:nvSpPr>
        <p:spPr>
          <a:xfrm>
            <a:off x="664200" y="2012040"/>
            <a:ext cx="1027008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Задача: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 Обеспечить безопасность и надежность системы.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Результат (Что сделано):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Безопасность: Внедрена ролевая модель доступа. Созданы роли car_admin, car_manager, car_warehouse с разными правами (например, менеджер не видит закупочные цены).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Производительность: Созданы индексы на ключевых полях для оптимизации работы.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Надежность: Разработана стратегия резервного копирования (ежедневные полные бэкапы + архив WAL-логов для восстановления на момент сбоя).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664200" y="296640"/>
            <a:ext cx="10863000" cy="701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Выводы по работе</a:t>
            </a:r>
            <a:endParaRPr b="0" lang="en-US" sz="3600" spc="-1" strike="noStrike">
              <a:solidFill>
                <a:srgbClr val="000000"/>
              </a:solidFill>
              <a:latin typeface="Century Schoolbook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664200" y="1554480"/>
            <a:ext cx="10422360" cy="37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Цель работы достигнута: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 Спроектирована и реализована реляционная БД для автомобильного центра.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Результаты: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Создана нормализованная структура данных (6 таблиц).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Реализована бизнес-логика через ограничения целостности.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Обеспечен удобный доступ через представления и запросы.</a:t>
            </a:r>
            <a:endParaRPr b="0" lang="ru-RU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Внедрены механизмы безопасности и отказоустойчивости.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Заключение:</a:t>
            </a:r>
            <a:r>
              <a:rPr b="0" lang="ru-RU" sz="2000" spc="-1" strike="noStrike">
                <a:solidFill>
                  <a:srgbClr val="000000"/>
                </a:solidFill>
                <a:latin typeface="Times New Roman"/>
              </a:rPr>
              <a:t> Разработанная база данных является готовым прототипом информационной системы, которая может быть внедрена в реальный бизнес-процесс и масштабирована.</a:t>
            </a:r>
            <a:endParaRPr b="0" lang="ru-RU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64200" y="296640"/>
            <a:ext cx="10863000" cy="701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1" lang="ru-RU" sz="3600" spc="-52" strike="noStrike">
                <a:solidFill>
                  <a:srgbClr val="000000"/>
                </a:solidFill>
                <a:latin typeface="Times New Roman"/>
              </a:rPr>
              <a:t>Демонстрация интерфейса</a:t>
            </a:r>
            <a:endParaRPr b="0" lang="en-US" sz="3600" spc="-1" strike="noStrike">
              <a:solidFill>
                <a:srgbClr val="000000"/>
              </a:solidFill>
              <a:latin typeface="Century Schoolbook"/>
            </a:endParaRPr>
          </a:p>
        </p:txBody>
      </p:sp>
      <p:pic>
        <p:nvPicPr>
          <p:cNvPr id="147" name="" descr=""/>
          <p:cNvPicPr/>
          <p:nvPr/>
        </p:nvPicPr>
        <p:blipFill>
          <a:blip r:embed="rId1"/>
          <a:stretch/>
        </p:blipFill>
        <p:spPr>
          <a:xfrm>
            <a:off x="720000" y="1080000"/>
            <a:ext cx="9721440" cy="5179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345600" y="1080000"/>
            <a:ext cx="3614400" cy="4500000"/>
          </a:xfrm>
          <a:prstGeom prst="rect">
            <a:avLst/>
          </a:prstGeom>
          <a:ln w="0">
            <a:noFill/>
          </a:ln>
        </p:spPr>
      </p:pic>
      <p:pic>
        <p:nvPicPr>
          <p:cNvPr id="149" name="" descr=""/>
          <p:cNvPicPr/>
          <p:nvPr/>
        </p:nvPicPr>
        <p:blipFill>
          <a:blip r:embed="rId2"/>
          <a:stretch/>
        </p:blipFill>
        <p:spPr>
          <a:xfrm>
            <a:off x="4140000" y="1620000"/>
            <a:ext cx="7003440" cy="3726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" descr=""/>
          <p:cNvPicPr/>
          <p:nvPr/>
        </p:nvPicPr>
        <p:blipFill>
          <a:blip r:embed="rId1"/>
          <a:stretch/>
        </p:blipFill>
        <p:spPr>
          <a:xfrm>
            <a:off x="356040" y="296280"/>
            <a:ext cx="7203960" cy="3843720"/>
          </a:xfrm>
          <a:prstGeom prst="rect">
            <a:avLst/>
          </a:prstGeom>
          <a:ln w="0">
            <a:noFill/>
          </a:ln>
        </p:spPr>
      </p:pic>
      <p:pic>
        <p:nvPicPr>
          <p:cNvPr id="151" name="" descr=""/>
          <p:cNvPicPr/>
          <p:nvPr/>
        </p:nvPicPr>
        <p:blipFill>
          <a:blip r:embed="rId2"/>
          <a:stretch/>
        </p:blipFill>
        <p:spPr>
          <a:xfrm>
            <a:off x="4012200" y="2700000"/>
            <a:ext cx="7147800" cy="3808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" descr=""/>
          <p:cNvPicPr/>
          <p:nvPr/>
        </p:nvPicPr>
        <p:blipFill>
          <a:blip r:embed="rId1"/>
          <a:stretch/>
        </p:blipFill>
        <p:spPr>
          <a:xfrm>
            <a:off x="360000" y="360000"/>
            <a:ext cx="5241600" cy="5966280"/>
          </a:xfrm>
          <a:prstGeom prst="rect">
            <a:avLst/>
          </a:prstGeom>
          <a:ln w="0">
            <a:noFill/>
          </a:ln>
        </p:spPr>
      </p:pic>
      <p:pic>
        <p:nvPicPr>
          <p:cNvPr id="153" name="" descr=""/>
          <p:cNvPicPr/>
          <p:nvPr/>
        </p:nvPicPr>
        <p:blipFill>
          <a:blip r:embed="rId2"/>
          <a:stretch/>
        </p:blipFill>
        <p:spPr>
          <a:xfrm>
            <a:off x="5865120" y="360000"/>
            <a:ext cx="5114880" cy="594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" descr=""/>
          <p:cNvPicPr/>
          <p:nvPr/>
        </p:nvPicPr>
        <p:blipFill>
          <a:blip r:embed="rId1"/>
          <a:stretch/>
        </p:blipFill>
        <p:spPr>
          <a:xfrm>
            <a:off x="356040" y="360000"/>
            <a:ext cx="10803960" cy="5747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Рисунок 2" descr=""/>
          <p:cNvPicPr/>
          <p:nvPr/>
        </p:nvPicPr>
        <p:blipFill>
          <a:blip r:embed="rId1"/>
          <a:stretch/>
        </p:blipFill>
        <p:spPr>
          <a:xfrm>
            <a:off x="3695760" y="1952640"/>
            <a:ext cx="4800240" cy="4800240"/>
          </a:xfrm>
          <a:prstGeom prst="rect">
            <a:avLst/>
          </a:prstGeom>
          <a:ln w="0">
            <a:noFill/>
          </a:ln>
        </p:spPr>
      </p:pic>
      <p:sp>
        <p:nvSpPr>
          <p:cNvPr id="156" name="TextBox 4"/>
          <p:cNvSpPr/>
          <p:nvPr/>
        </p:nvSpPr>
        <p:spPr>
          <a:xfrm>
            <a:off x="1928880" y="968400"/>
            <a:ext cx="83340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4000" spc="-1" strike="noStrike">
                <a:solidFill>
                  <a:srgbClr val="000000"/>
                </a:solidFill>
                <a:latin typeface="Century Schoolbook"/>
              </a:rPr>
              <a:t>СПАСИБО ЗА ВНИМАНИЕ!</a:t>
            </a:r>
            <a:endParaRPr b="0" lang="ru-RU" sz="4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TM03457515[[fn=Вид]]</Template>
  <TotalTime>88</TotalTime>
  <Application>LibreOffice/7.3.7.2$Linux_X86_64 LibreOffice_project/30$Build-2</Application>
  <AppVersion>15.0000</AppVersion>
  <Words>688</Words>
  <Paragraphs>91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2025-12-18T00:52:31Z</dcterms:created>
  <dc:creator>Богдан</dc:creator>
  <dc:description/>
  <dc:language>ru-RU</dc:language>
  <cp:lastModifiedBy/>
  <dcterms:modified xsi:type="dcterms:W3CDTF">2025-12-18T10:03:01Z</dcterms:modified>
  <cp:revision>2</cp:revision>
  <dc:subject/>
  <dc:title>Курсовая работа по теме: Разработка базы данных для центра по продаже автомобилей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Широкоэкранный</vt:lpwstr>
  </property>
  <property fmtid="{D5CDD505-2E9C-101B-9397-08002B2CF9AE}" pid="3" name="Slides">
    <vt:i4>10</vt:i4>
  </property>
</Properties>
</file>