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Alexandria SemiBold"/>
      <p:regular r:id="rId15"/>
      <p:bold r:id="rId16"/>
    </p:embeddedFont>
    <p:embeddedFont>
      <p:font typeface="Sora Light"/>
      <p:regular r:id="rId17"/>
      <p:bold r:id="rId18"/>
    </p:embeddedFont>
    <p:embeddedFont>
      <p:font typeface="Sora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H43rq+7PZWN4fIFAGVAxDow2v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ra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lexandriaSemiBold-regular.fntdata"/><Relationship Id="rId14" Type="http://schemas.openxmlformats.org/officeDocument/2006/relationships/slide" Target="slides/slide10.xml"/><Relationship Id="rId17" Type="http://schemas.openxmlformats.org/officeDocument/2006/relationships/font" Target="fonts/SoraLight-regular.fntdata"/><Relationship Id="rId16" Type="http://schemas.openxmlformats.org/officeDocument/2006/relationships/font" Target="fonts/AlexandriaSemiBold-bold.fntdata"/><Relationship Id="rId5" Type="http://schemas.openxmlformats.org/officeDocument/2006/relationships/slide" Target="slides/slide1.xml"/><Relationship Id="rId19" Type="http://schemas.openxmlformats.org/officeDocument/2006/relationships/font" Target="fonts/Sora-regular.fntdata"/><Relationship Id="rId6" Type="http://schemas.openxmlformats.org/officeDocument/2006/relationships/slide" Target="slides/slide2.xml"/><Relationship Id="rId18" Type="http://schemas.openxmlformats.org/officeDocument/2006/relationships/font" Target="fonts/SoraLigh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" name="Google Shape;9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2875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/>
          <p:nvPr/>
        </p:nvSpPr>
        <p:spPr>
          <a:xfrm>
            <a:off x="6382234" y="1409997"/>
            <a:ext cx="7627500" cy="14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4450"/>
              <a:buFont typeface="Alexandria SemiBold"/>
              <a:buNone/>
            </a:pPr>
            <a:r>
              <a:rPr b="1" i="0" lang="en-US" sz="4450" u="none" cap="none" strike="noStrike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База данных для учета домашних финансов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5994550" y="4123125"/>
            <a:ext cx="7877400" cy="19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100"/>
              <a:buFont typeface="Sora Light"/>
              <a:buNone/>
            </a:pPr>
            <a:r>
              <a:rPr b="1" i="0" lang="en-US" sz="21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Студент:</a:t>
            </a:r>
            <a:r>
              <a:rPr b="0" i="0" lang="en-US" sz="21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Марков Станислав Леонидович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100"/>
              <a:buFont typeface="Sora Light"/>
              <a:buNone/>
            </a:pPr>
            <a:r>
              <a:rPr b="1" i="0" lang="en-US" sz="21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Специальность:</a:t>
            </a:r>
            <a:r>
              <a:rPr b="0" i="0" lang="en-US" sz="21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09.02.07 «Информационные системы и программирование»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100"/>
              <a:buFont typeface="Sora Light"/>
              <a:buNone/>
            </a:pPr>
            <a:r>
              <a:rPr b="1" i="0" lang="en-US" sz="21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Руководитель:</a:t>
            </a:r>
            <a:r>
              <a:rPr b="0" i="0" lang="en-US" sz="21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Пунгин И.В.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12660198" y="7701699"/>
            <a:ext cx="1875934" cy="461913"/>
          </a:xfrm>
          <a:prstGeom prst="rect">
            <a:avLst/>
          </a:prstGeom>
          <a:solidFill>
            <a:srgbClr val="FFFAFA"/>
          </a:solidFill>
          <a:ln cap="flat" cmpd="sng" w="12700">
            <a:solidFill>
              <a:srgbClr val="FFFAF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/>
          <p:nvPr/>
        </p:nvSpPr>
        <p:spPr>
          <a:xfrm>
            <a:off x="700564" y="318488"/>
            <a:ext cx="9682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4100"/>
              <a:buFont typeface="Alexandria SemiBold"/>
              <a:buNone/>
            </a:pPr>
            <a:r>
              <a:rPr b="1" lang="en-US" sz="4100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Цель, задачи и методы исследования</a:t>
            </a:r>
            <a:endParaRPr sz="4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00564" y="2075974"/>
            <a:ext cx="6514505" cy="3053358"/>
          </a:xfrm>
          <a:prstGeom prst="roundRect">
            <a:avLst>
              <a:gd fmla="val 3594" name="adj"/>
            </a:avLst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700564" y="2053114"/>
            <a:ext cx="6514505" cy="91440"/>
          </a:xfrm>
          <a:prstGeom prst="roundRect">
            <a:avLst>
              <a:gd fmla="val 91940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3657540" y="1775817"/>
            <a:ext cx="600432" cy="600432"/>
          </a:xfrm>
          <a:prstGeom prst="roundRect">
            <a:avLst>
              <a:gd fmla="val 152290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923568" y="2576274"/>
            <a:ext cx="2633662" cy="32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050"/>
              <a:buFont typeface="Alexandria SemiBold"/>
              <a:buNone/>
            </a:pPr>
            <a:r>
              <a:rPr b="1" lang="en-US" sz="2050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Цель работы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923568" y="3025497"/>
            <a:ext cx="6068497" cy="6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Sora Light"/>
              <a:buNone/>
            </a:pPr>
            <a:r>
              <a:rPr lang="en-US" sz="175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Разработка базы данных для учета домашних финансов с использованием СУБД PostgreSQL.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7415213" y="2075974"/>
            <a:ext cx="6514624" cy="3053358"/>
          </a:xfrm>
          <a:prstGeom prst="roundRect">
            <a:avLst>
              <a:gd fmla="val 3594" name="adj"/>
            </a:avLst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7415213" y="2053114"/>
            <a:ext cx="6514624" cy="91440"/>
          </a:xfrm>
          <a:prstGeom prst="roundRect">
            <a:avLst>
              <a:gd fmla="val 91940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10372308" y="1775817"/>
            <a:ext cx="600432" cy="600432"/>
          </a:xfrm>
          <a:prstGeom prst="roundRect">
            <a:avLst>
              <a:gd fmla="val 152290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7638217" y="2576274"/>
            <a:ext cx="2633662" cy="32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050"/>
              <a:buFont typeface="Alexandria SemiBold"/>
              <a:buNone/>
            </a:pPr>
            <a:r>
              <a:rPr b="1" lang="en-US" sz="2050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Задачи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638217" y="3025497"/>
            <a:ext cx="6068616" cy="320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50"/>
              <a:buFont typeface="Sora Light"/>
              <a:buChar char="•"/>
            </a:pPr>
            <a:r>
              <a:rPr lang="en-US" sz="175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Анализ предметной области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7638217" y="3415665"/>
            <a:ext cx="6068616" cy="320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50"/>
              <a:buFont typeface="Sora Light"/>
              <a:buChar char="•"/>
            </a:pPr>
            <a:r>
              <a:rPr lang="en-US" sz="175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Проектирование инфологической модели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638217" y="3805833"/>
            <a:ext cx="6068616" cy="320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50"/>
              <a:buFont typeface="Sora Light"/>
              <a:buChar char="•"/>
            </a:pPr>
            <a:r>
              <a:rPr lang="en-US" sz="175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Разработка логической и физической структуры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7638217" y="4196001"/>
            <a:ext cx="6068616" cy="320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50"/>
              <a:buFont typeface="Sora Light"/>
              <a:buChar char="•"/>
            </a:pPr>
            <a:r>
              <a:rPr lang="en-US" sz="175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Реализация БД в PostgreSQL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7638217" y="4586168"/>
            <a:ext cx="6068616" cy="320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795814" y="4906332"/>
            <a:ext cx="6514500" cy="1882800"/>
          </a:xfrm>
          <a:prstGeom prst="roundRect">
            <a:avLst>
              <a:gd fmla="val 5828" name="adj"/>
            </a:avLst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700564" y="5294660"/>
            <a:ext cx="6514500" cy="91500"/>
          </a:xfrm>
          <a:prstGeom prst="roundRect">
            <a:avLst>
              <a:gd fmla="val 91940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3657540" y="5017364"/>
            <a:ext cx="600300" cy="600300"/>
          </a:xfrm>
          <a:prstGeom prst="roundRect">
            <a:avLst>
              <a:gd fmla="val 152290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923543" y="5714333"/>
            <a:ext cx="2633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050"/>
              <a:buFont typeface="Alexandria SemiBold"/>
              <a:buNone/>
            </a:pPr>
            <a:r>
              <a:rPr b="1" lang="en-US" sz="2050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Объект и предмет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923568" y="6371606"/>
            <a:ext cx="606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50"/>
              <a:buFont typeface="Sora Light"/>
              <a:buChar char="•"/>
            </a:pPr>
            <a:r>
              <a:rPr b="1" lang="en-US" sz="175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Объект:</a:t>
            </a:r>
            <a:r>
              <a:rPr lang="en-US" sz="175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Процесс учета домашних финансов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923568" y="6761773"/>
            <a:ext cx="606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50"/>
              <a:buFont typeface="Sora Light"/>
              <a:buChar char="•"/>
            </a:pPr>
            <a:r>
              <a:rPr b="1" lang="en-US" sz="175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Предмет:</a:t>
            </a:r>
            <a:r>
              <a:rPr lang="en-US" sz="175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База данных для хранения финансовых данных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7415213" y="5629632"/>
            <a:ext cx="6514500" cy="1882800"/>
          </a:xfrm>
          <a:prstGeom prst="roundRect">
            <a:avLst>
              <a:gd fmla="val 5828" name="adj"/>
            </a:avLst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7415163" y="5300122"/>
            <a:ext cx="6514500" cy="91500"/>
          </a:xfrm>
          <a:prstGeom prst="roundRect">
            <a:avLst>
              <a:gd fmla="val 91940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10372258" y="5022826"/>
            <a:ext cx="600300" cy="600300"/>
          </a:xfrm>
          <a:prstGeom prst="roundRect">
            <a:avLst>
              <a:gd fmla="val 152290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7638217" y="5578133"/>
            <a:ext cx="2896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050"/>
              <a:buFont typeface="Alexandria SemiBold"/>
              <a:buNone/>
            </a:pPr>
            <a:r>
              <a:rPr b="1" lang="en-US" sz="2050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Методы исследования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7638092" y="6356031"/>
            <a:ext cx="606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Sora Light"/>
              <a:buNone/>
            </a:pPr>
            <a:r>
              <a:rPr lang="en-US" sz="175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Анализ, проектирование баз данных, моделирование.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12660198" y="7701699"/>
            <a:ext cx="1875934" cy="461913"/>
          </a:xfrm>
          <a:prstGeom prst="rect">
            <a:avLst/>
          </a:prstGeom>
          <a:solidFill>
            <a:srgbClr val="FFFAFA"/>
          </a:solidFill>
          <a:ln cap="flat" cmpd="sng" w="12700">
            <a:solidFill>
              <a:srgbClr val="FFFAF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3" name="Google Shape;9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7775" y="582573"/>
            <a:ext cx="5486400" cy="70199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616982" y="627102"/>
            <a:ext cx="4863584" cy="579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57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650"/>
              <a:buFont typeface="Alexandria SemiBold"/>
              <a:buNone/>
            </a:pPr>
            <a:r>
              <a:rPr b="1" lang="en-US" sz="3650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Актуальность работы</a:t>
            </a:r>
            <a:endParaRPr sz="3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16967" y="1708100"/>
            <a:ext cx="5331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800"/>
              <a:buFont typeface="Alexandria SemiBold"/>
              <a:buNone/>
            </a:pPr>
            <a:r>
              <a:rPr b="1" lang="en-US" sz="2500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Автоматизация учета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16957" y="2410266"/>
            <a:ext cx="79101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350"/>
              <a:buFont typeface="Sora Light"/>
              <a:buNone/>
            </a:pPr>
            <a:r>
              <a:rPr lang="en-US" sz="175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В современном мире ручной учет финансов трудоемок и подвержен ошибкам. Автоматизация позволяет значительно упростить этот процесс, экономя время и силы пользователей.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17012" y="3800438"/>
            <a:ext cx="65580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800"/>
              <a:buFont typeface="Alexandria SemiBold"/>
              <a:buNone/>
            </a:pPr>
            <a:r>
              <a:rPr b="1" lang="en-US" sz="2500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Удобство анализа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16950" y="4421515"/>
            <a:ext cx="79101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350"/>
              <a:buFont typeface="Sora Light"/>
              <a:buNone/>
            </a:pPr>
            <a:r>
              <a:rPr lang="en-US" sz="175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Систематизированные данные облегчают анализ доходов и расходов, позволяя выявлять тенденции, оптимизировать бюджет и принимать обоснованные финансовые решения.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17008" y="5734950"/>
            <a:ext cx="5870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800"/>
              <a:buFont typeface="Alexandria SemiBold"/>
              <a:buNone/>
            </a:pPr>
            <a:r>
              <a:rPr b="1" lang="en-US" sz="2500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Надежное хранение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16982" y="6435396"/>
            <a:ext cx="79101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350"/>
              <a:buFont typeface="Sora Light"/>
              <a:buNone/>
            </a:pPr>
            <a:r>
              <a:rPr lang="en-US" sz="175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База данных обеспечивает централизованное, безопасное и структурированное хранение конфиденциальной финансовой информации, защищая ее от потери или несанкционированного доступа.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12660198" y="7701699"/>
            <a:ext cx="1875934" cy="461913"/>
          </a:xfrm>
          <a:prstGeom prst="rect">
            <a:avLst/>
          </a:prstGeom>
          <a:solidFill>
            <a:srgbClr val="FFFAFA"/>
          </a:solidFill>
          <a:ln cap="flat" cmpd="sng" w="12700">
            <a:solidFill>
              <a:srgbClr val="FFFAF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826334" y="343812"/>
            <a:ext cx="79617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4450"/>
              <a:buFont typeface="Alexandria SemiBold"/>
              <a:buNone/>
            </a:pPr>
            <a:r>
              <a:rPr b="1" lang="en-US" sz="4450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Анализ предметной области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758309" y="2120622"/>
            <a:ext cx="7656790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 Light"/>
              <a:buNone/>
            </a:pPr>
            <a:r>
              <a:rPr lang="en-US" sz="17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Предметная область «учет домашних финансов» охватывает все аспекты управления личными или семейными денежными потоками. Это включает в себя фиксацию всех поступлений (доходов) и трат (расходов), категоризацию транзакций и отслеживание финансового состояния.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758309" y="4070747"/>
            <a:ext cx="4562475" cy="427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15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650"/>
              <a:buFont typeface="Alexandria SemiBold"/>
              <a:buNone/>
            </a:pPr>
            <a:r>
              <a:rPr b="1" lang="en-US" sz="2650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Основные задачи системы: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758309" y="5123100"/>
            <a:ext cx="76569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 Light"/>
              <a:buChar char="•"/>
            </a:pPr>
            <a:r>
              <a:rPr lang="en-US" sz="17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Регистрация всех финансовых операций.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758309" y="5545534"/>
            <a:ext cx="76569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 Light"/>
              <a:buChar char="•"/>
            </a:pPr>
            <a:r>
              <a:rPr lang="en-US" sz="17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Классификация доходов и расходов по категориям.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58309" y="5967968"/>
            <a:ext cx="76569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 Light"/>
              <a:buChar char="•"/>
            </a:pPr>
            <a:r>
              <a:rPr lang="en-US" sz="17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Формирование отчетов о финансовой активности.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58309" y="6390435"/>
            <a:ext cx="76569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 Light"/>
              <a:buChar char="•"/>
            </a:pPr>
            <a:r>
              <a:rPr lang="en-US" sz="17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Управление несколькими счетами (наличные, банковские карты).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1357" y="2034182"/>
            <a:ext cx="4928235" cy="492823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12660198" y="7701699"/>
            <a:ext cx="1875934" cy="461913"/>
          </a:xfrm>
          <a:prstGeom prst="rect">
            <a:avLst/>
          </a:prstGeom>
          <a:solidFill>
            <a:srgbClr val="FFFAFA"/>
          </a:solidFill>
          <a:ln cap="flat" cmpd="sng" w="12700">
            <a:solidFill>
              <a:srgbClr val="FFFAF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758309" y="343662"/>
            <a:ext cx="106926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4450"/>
              <a:buFont typeface="Alexandria SemiBold"/>
              <a:buNone/>
            </a:pPr>
            <a:r>
              <a:rPr b="1" lang="en-US" sz="4450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Инфологическая модель базы данных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758309" y="1924288"/>
            <a:ext cx="13113782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 Light"/>
              <a:buNone/>
            </a:pPr>
            <a:r>
              <a:rPr lang="en-US" sz="17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Инфологическая модель определяет ключевые сущности, их атрибуты и взаимосвязи, необходимые для эффективного учета домашних финансов.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952982" y="3101578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200"/>
              <a:buFont typeface="Alexandria SemiBold"/>
              <a:buNone/>
            </a:pPr>
            <a:r>
              <a:rPr b="1" lang="en-US" sz="2200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Пользователи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58309" y="3587710"/>
            <a:ext cx="4045387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 Light"/>
              <a:buNone/>
            </a:pPr>
            <a:r>
              <a:rPr lang="en-US" sz="17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Регистрация, аутентификация.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0270" y="2929454"/>
            <a:ext cx="4589741" cy="458974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/>
          <p:nvPr/>
        </p:nvSpPr>
        <p:spPr>
          <a:xfrm>
            <a:off x="9826585" y="3101578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200"/>
              <a:buFont typeface="Alexandria SemiBold"/>
              <a:buNone/>
            </a:pPr>
            <a:r>
              <a:rPr b="1" lang="en-US" sz="2200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Счета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9826585" y="3587710"/>
            <a:ext cx="4045506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 Light"/>
              <a:buNone/>
            </a:pPr>
            <a:r>
              <a:rPr lang="en-US" sz="17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Наличные, банковские карты.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" name="Google Shape;12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0270" y="2929454"/>
            <a:ext cx="4589741" cy="458974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10043279" y="4739759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200"/>
              <a:buFont typeface="Alexandria SemiBold"/>
              <a:buNone/>
            </a:pPr>
            <a:r>
              <a:rPr b="1" lang="en-US" sz="2200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Доходы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0043279" y="5225891"/>
            <a:ext cx="382881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 Light"/>
              <a:buNone/>
            </a:pPr>
            <a:r>
              <a:rPr lang="en-US" sz="17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Зарплата, подработки.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0270" y="2929454"/>
            <a:ext cx="4589741" cy="458974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9826585" y="6378059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200"/>
              <a:buFont typeface="Alexandria SemiBold"/>
              <a:buNone/>
            </a:pPr>
            <a:r>
              <a:rPr b="1" lang="en-US" sz="2200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Расходы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9826585" y="6864191"/>
            <a:ext cx="4045506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 Light"/>
              <a:buNone/>
            </a:pPr>
            <a:r>
              <a:rPr lang="en-US" sz="17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Продукты, коммунальные услуги.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0270" y="2929454"/>
            <a:ext cx="4589741" cy="458974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1952982" y="6378059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200"/>
              <a:buFont typeface="Alexandria SemiBold"/>
              <a:buNone/>
            </a:pPr>
            <a:r>
              <a:rPr b="1" lang="en-US" sz="2200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Категории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58309" y="6864191"/>
            <a:ext cx="4045387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 Light"/>
              <a:buNone/>
            </a:pPr>
            <a:r>
              <a:rPr lang="en-US" sz="17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Продукты, транспорт, досуг.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0270" y="2929454"/>
            <a:ext cx="4589741" cy="458974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1736288" y="4739759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2200"/>
              <a:buFont typeface="Alexandria SemiBold"/>
              <a:buNone/>
            </a:pPr>
            <a:r>
              <a:rPr b="1" lang="en-US" sz="2200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Операции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758309" y="5225891"/>
            <a:ext cx="3828693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00"/>
              <a:buFont typeface="Sora Light"/>
              <a:buNone/>
            </a:pPr>
            <a:r>
              <a:rPr lang="en-US" sz="17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Операции между счетами.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5"/>
          <p:cNvPicPr preferRelativeResize="0"/>
          <p:nvPr/>
        </p:nvPicPr>
        <p:blipFill rotWithShape="1">
          <a:blip r:embed="rId8">
            <a:alphaModFix/>
          </a:blip>
          <a:srcRect b="1479" l="0" r="0" t="-1480"/>
          <a:stretch/>
        </p:blipFill>
        <p:spPr>
          <a:xfrm>
            <a:off x="5020270" y="2861429"/>
            <a:ext cx="4589741" cy="458974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/>
          <p:nvPr/>
        </p:nvSpPr>
        <p:spPr>
          <a:xfrm>
            <a:off x="12660198" y="7701699"/>
            <a:ext cx="1875934" cy="461913"/>
          </a:xfrm>
          <a:prstGeom prst="rect">
            <a:avLst/>
          </a:prstGeom>
          <a:solidFill>
            <a:srgbClr val="FFFAFA"/>
          </a:solidFill>
          <a:ln cap="flat" cmpd="sng" w="12700">
            <a:solidFill>
              <a:srgbClr val="FFFAF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415168" y="215707"/>
            <a:ext cx="90435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900"/>
              <a:buFont typeface="Alexandria SemiBold"/>
              <a:buNone/>
            </a:pPr>
            <a:r>
              <a:rPr b="1" lang="en-US" sz="2900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Логическая и физическая структура базы данных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56275" y="827225"/>
            <a:ext cx="40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450"/>
              <a:buFont typeface="Alexandria SemiBold"/>
              <a:buNone/>
            </a:pPr>
            <a:r>
              <a:rPr b="1" lang="en-US" sz="2050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Логическая структура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19000" y="1371246"/>
            <a:ext cx="66444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 Light"/>
              <a:buNone/>
            </a:pPr>
            <a:r>
              <a:rPr lang="en-US" sz="15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Преобразует инфологическую модель в таблицы, поля и связи, пригодные для реляционной базы данных. Определяет первичные и внешние ключи, типы данных для каждого атрибута.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16253" y="2559707"/>
            <a:ext cx="66444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 Light"/>
              <a:buChar char="•"/>
            </a:pPr>
            <a:r>
              <a:rPr lang="en-US" sz="1500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Таблица Users:</a:t>
            </a:r>
            <a:r>
              <a:rPr b="1" lang="en-US" sz="11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</a:t>
            </a:r>
            <a:r>
              <a:rPr b="1" lang="en-US" sz="13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(PK)user_id, username, </a:t>
            </a:r>
            <a:r>
              <a:rPr lang="en-US" sz="13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password_hash,  created_at</a:t>
            </a:r>
            <a:endParaRPr sz="1300">
              <a:solidFill>
                <a:schemeClr val="dk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16253" y="2900315"/>
            <a:ext cx="66444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 Light"/>
              <a:buChar char="•"/>
            </a:pPr>
            <a:r>
              <a:rPr b="1" lang="en-US" sz="15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Таблица Account:</a:t>
            </a:r>
            <a:r>
              <a:rPr b="1" lang="en-US" sz="11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</a:t>
            </a:r>
            <a:r>
              <a:rPr lang="en-US" sz="1300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(PK)account_</a:t>
            </a:r>
            <a:r>
              <a:rPr lang="en-US" sz="13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id, (FK-User)user_id, account_name, account_type, balance, created_at.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16250" y="3585753"/>
            <a:ext cx="68490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 Light"/>
              <a:buChar char="•"/>
            </a:pPr>
            <a:r>
              <a:rPr b="1" lang="en-US" sz="15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Таблица Category:</a:t>
            </a:r>
            <a:r>
              <a:rPr b="1" lang="en-US" sz="11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</a:t>
            </a:r>
            <a:r>
              <a:rPr lang="en-US" sz="13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(PK)category_id, category_name, type(expense/income)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16253" y="4565038"/>
            <a:ext cx="65703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 Light"/>
              <a:buChar char="•"/>
            </a:pPr>
            <a:r>
              <a:rPr b="1" lang="en-US" sz="15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Таблица Operation: </a:t>
            </a:r>
            <a:r>
              <a:rPr lang="en-US" sz="13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(PK)operation_id,(FK)user_id,(FK)account_id,(FK)category_id,(FK)payee_id,amount(decimal),operation_type(expence/income),operation_date,description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4" name="Google Shape;1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8555" y="1057297"/>
            <a:ext cx="6644402" cy="664440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/>
          <p:nvPr/>
        </p:nvSpPr>
        <p:spPr>
          <a:xfrm>
            <a:off x="456263" y="5928050"/>
            <a:ext cx="63978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450"/>
              <a:buFont typeface="Alexandria SemiBold"/>
              <a:buNone/>
            </a:pPr>
            <a:r>
              <a:rPr b="1" lang="en-US" sz="2050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Физическая структура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32975" y="6554981"/>
            <a:ext cx="6644400" cy="11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 Light"/>
              <a:buNone/>
            </a:pPr>
            <a:r>
              <a:rPr lang="en-US" sz="16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Описывает реализацию логической модели в конкретной СУБД (PostgreSQL), включая индексы, ограничения, файловые структуры.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12660198" y="7701699"/>
            <a:ext cx="1875934" cy="461913"/>
          </a:xfrm>
          <a:prstGeom prst="rect">
            <a:avLst/>
          </a:prstGeom>
          <a:solidFill>
            <a:srgbClr val="FFFAFA"/>
          </a:solidFill>
          <a:ln cap="flat" cmpd="sng" w="12700">
            <a:solidFill>
              <a:srgbClr val="FFFAF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0" y="3950263"/>
            <a:ext cx="647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 Light"/>
              <a:buChar char="•"/>
            </a:pPr>
            <a:r>
              <a:rPr b="1" lang="en-US" sz="15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Таблица payee:</a:t>
            </a:r>
            <a:r>
              <a:rPr b="1" lang="en-US" sz="13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</a:t>
            </a:r>
            <a:r>
              <a:rPr lang="en-US" sz="13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(PK)payee_id,(FK)user_id,payee_name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/>
          <p:nvPr/>
        </p:nvSpPr>
        <p:spPr>
          <a:xfrm>
            <a:off x="6115883" y="635079"/>
            <a:ext cx="7885033" cy="1183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75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700"/>
              <a:buFont typeface="Alexandria SemiBold"/>
              <a:buNone/>
            </a:pPr>
            <a:r>
              <a:rPr b="1" lang="en-US" sz="3700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Реализация базы данных в PostgreSQL</a:t>
            </a:r>
            <a:endParaRPr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115883" y="2371130"/>
            <a:ext cx="3852624" cy="22860"/>
          </a:xfrm>
          <a:prstGeom prst="rect">
            <a:avLst/>
          </a:prstGeom>
          <a:solidFill>
            <a:srgbClr val="1A2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6115883" y="2506742"/>
            <a:ext cx="2366724" cy="295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850"/>
              <a:buFont typeface="Alexandria SemiBold"/>
              <a:buNone/>
            </a:pPr>
            <a:r>
              <a:rPr b="1" lang="en-US" sz="2150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Создание таблиц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6115896" y="3516108"/>
            <a:ext cx="3852600" cy="11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Sora Light"/>
              <a:buNone/>
            </a:pPr>
            <a:r>
              <a:rPr lang="en-US" sz="16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Определение схемы таблиц с использованием SQL DDL (Data Definition Language) команд, таких как </a:t>
            </a:r>
            <a:r>
              <a:rPr lang="en-US" sz="1600">
                <a:solidFill>
                  <a:srgbClr val="3B3535"/>
                </a:solidFill>
                <a:highlight>
                  <a:srgbClr val="F2EDED"/>
                </a:highlight>
                <a:latin typeface="Consolas"/>
                <a:ea typeface="Consolas"/>
                <a:cs typeface="Consolas"/>
                <a:sym typeface="Consolas"/>
              </a:rPr>
              <a:t>CREATE TABLE</a:t>
            </a:r>
            <a:r>
              <a:rPr lang="en-US" sz="16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, с указанием типов данных и ограничений.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0148292" y="2371130"/>
            <a:ext cx="3852624" cy="22860"/>
          </a:xfrm>
          <a:prstGeom prst="rect">
            <a:avLst/>
          </a:prstGeom>
          <a:solidFill>
            <a:srgbClr val="1A2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10148292" y="2506742"/>
            <a:ext cx="3852624" cy="591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850"/>
              <a:buFont typeface="Alexandria SemiBold"/>
              <a:buNone/>
            </a:pPr>
            <a:r>
              <a:rPr b="1" lang="en-US" sz="2150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Заполнение тестовыми данными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10148300" y="3516099"/>
            <a:ext cx="38526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Sora Light"/>
              <a:buNone/>
            </a:pPr>
            <a:r>
              <a:rPr lang="en-US" sz="16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Вставка демонстрационных записей в таблицы для проверки функциональности и тестирования запросов с использованием </a:t>
            </a:r>
            <a:r>
              <a:rPr lang="en-US" sz="1600">
                <a:solidFill>
                  <a:srgbClr val="3B3535"/>
                </a:solidFill>
                <a:highlight>
                  <a:srgbClr val="F2EDED"/>
                </a:highlight>
                <a:latin typeface="Consolas"/>
                <a:ea typeface="Consolas"/>
                <a:cs typeface="Consolas"/>
                <a:sym typeface="Consolas"/>
              </a:rPr>
              <a:t>INSERT INTO</a:t>
            </a:r>
            <a:r>
              <a:rPr lang="en-US" sz="16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115883" y="5661184"/>
            <a:ext cx="7885033" cy="22860"/>
          </a:xfrm>
          <a:prstGeom prst="rect">
            <a:avLst/>
          </a:prstGeom>
          <a:solidFill>
            <a:srgbClr val="1A2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6115866" y="5796800"/>
            <a:ext cx="68703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850"/>
              <a:buFont typeface="Alexandria SemiBold"/>
              <a:buNone/>
            </a:pPr>
            <a:r>
              <a:rPr b="1" lang="en-US" sz="2150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Выполнение SQL-запросов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115883" y="6438212"/>
            <a:ext cx="78849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Sora Light"/>
              <a:buNone/>
            </a:pPr>
            <a:r>
              <a:rPr lang="en-US" sz="17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Демонстрация базовых операций (выборка, обновление, удаление, агрегатные функции) для управления финансовыми данными и получения отчетов.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2660198" y="7701699"/>
            <a:ext cx="1875934" cy="461913"/>
          </a:xfrm>
          <a:prstGeom prst="rect">
            <a:avLst/>
          </a:prstGeom>
          <a:solidFill>
            <a:srgbClr val="FFFAFA"/>
          </a:solidFill>
          <a:ln cap="flat" cmpd="sng" w="12700">
            <a:solidFill>
              <a:srgbClr val="FFFAF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7"/>
          <p:cNvGrpSpPr/>
          <p:nvPr/>
        </p:nvGrpSpPr>
        <p:grpSpPr>
          <a:xfrm>
            <a:off x="0" y="0"/>
            <a:ext cx="5486400" cy="8229600"/>
            <a:chOff x="0" y="0"/>
            <a:chExt cx="5486400" cy="8229600"/>
          </a:xfrm>
        </p:grpSpPr>
        <p:pic>
          <p:nvPicPr>
            <p:cNvPr descr="preencoded.png" id="176" name="Google Shape;176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5486400" cy="822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7"/>
            <p:cNvSpPr/>
            <p:nvPr/>
          </p:nvSpPr>
          <p:spPr>
            <a:xfrm>
              <a:off x="2452825" y="0"/>
              <a:ext cx="1421400" cy="8229600"/>
            </a:xfrm>
            <a:prstGeom prst="rect">
              <a:avLst/>
            </a:prstGeom>
            <a:solidFill>
              <a:srgbClr val="D2EA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588050" y="216827"/>
            <a:ext cx="70467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450"/>
              <a:buFont typeface="Alexandria SemiBold"/>
              <a:buNone/>
            </a:pPr>
            <a:r>
              <a:rPr b="1" lang="en-US" sz="3450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Безопасность и взаимодействие</a:t>
            </a:r>
            <a:endParaRPr sz="3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4" name="Google Shape;1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050" y="1339572"/>
            <a:ext cx="6522244" cy="652224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/>
          <p:nvPr/>
        </p:nvSpPr>
        <p:spPr>
          <a:xfrm>
            <a:off x="7527727" y="947972"/>
            <a:ext cx="30012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050"/>
              <a:buFont typeface="Alexandria SemiBold"/>
              <a:buNone/>
            </a:pPr>
            <a:r>
              <a:rPr b="1" lang="en-US" sz="2050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Вопросы безопасности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7527750" y="1557703"/>
            <a:ext cx="65223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00"/>
              <a:buFont typeface="Sora Light"/>
              <a:buChar char="•"/>
            </a:pPr>
            <a:r>
              <a:rPr b="1" lang="en-US" sz="15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Разграничение прав доступа:</a:t>
            </a:r>
            <a:r>
              <a:rPr lang="en-US" sz="15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Использование ролей и привилегий PostgreSQL для контроля доступа пользователей к таблицам и операциям (чтение, запись, обновление).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7527725" y="2741236"/>
            <a:ext cx="65223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00"/>
              <a:buFont typeface="Sora Light"/>
              <a:buChar char="•"/>
            </a:pPr>
            <a:r>
              <a:rPr b="1" lang="en-US" sz="15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Создание п</a:t>
            </a:r>
            <a:r>
              <a:rPr b="1" lang="en-US" sz="15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аролей:</a:t>
            </a:r>
            <a:r>
              <a:rPr lang="en-US" sz="15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Хранение паролей и использование их для входа в интерфейс.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7527725" y="3503803"/>
            <a:ext cx="65223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00"/>
              <a:buFont typeface="Sora Light"/>
              <a:buChar char="•"/>
            </a:pPr>
            <a:r>
              <a:rPr b="1" lang="en-US" sz="15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Резервное копирование:</a:t>
            </a:r>
            <a:r>
              <a:rPr lang="en-US" sz="15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</a:t>
            </a:r>
            <a:r>
              <a:rPr lang="en-US" sz="15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Предусмотрена стратегия резервного копирования с использованием утилиты pg_dump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7527727" y="4345602"/>
            <a:ext cx="5905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050"/>
              <a:buFont typeface="Alexandria SemiBold"/>
              <a:buNone/>
            </a:pPr>
            <a:r>
              <a:rPr b="1" lang="en-US" sz="2050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Взаимодействие с внешними приложениями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7400250" y="4981822"/>
            <a:ext cx="6522300" cy="11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00"/>
              <a:buFont typeface="Sora Light"/>
              <a:buChar char="•"/>
            </a:pPr>
            <a:r>
              <a:rPr b="1" lang="en-US" sz="15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«Взаимодействие базы данных с настольным Java-приложением через JDBC-драйвер PostgreSQL»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12660198" y="7701699"/>
            <a:ext cx="1875934" cy="461913"/>
          </a:xfrm>
          <a:prstGeom prst="rect">
            <a:avLst/>
          </a:prstGeom>
          <a:solidFill>
            <a:srgbClr val="FFFAFA"/>
          </a:solidFill>
          <a:ln cap="flat" cmpd="sng" w="12700">
            <a:solidFill>
              <a:srgbClr val="FFFAF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/>
          <p:nvPr/>
        </p:nvSpPr>
        <p:spPr>
          <a:xfrm>
            <a:off x="12754466" y="7657648"/>
            <a:ext cx="1875934" cy="461913"/>
          </a:xfrm>
          <a:prstGeom prst="rect">
            <a:avLst/>
          </a:prstGeom>
          <a:solidFill>
            <a:srgbClr val="FFFAFA"/>
          </a:solidFill>
          <a:ln cap="flat" cmpd="sng" w="12700">
            <a:solidFill>
              <a:srgbClr val="FFFAF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8" name="Google Shape;19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3174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9"/>
          <p:cNvSpPr/>
          <p:nvPr/>
        </p:nvSpPr>
        <p:spPr>
          <a:xfrm>
            <a:off x="5988248" y="153564"/>
            <a:ext cx="3773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23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950"/>
              <a:buFont typeface="Alexandria SemiBold"/>
              <a:buNone/>
            </a:pPr>
            <a:r>
              <a:rPr b="1" lang="en-US" sz="2950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Выводы по работе</a:t>
            </a:r>
            <a:endParaRPr sz="2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977872" y="797187"/>
            <a:ext cx="81402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 Light"/>
              <a:buNone/>
            </a:pPr>
            <a:r>
              <a:rPr lang="en-US" sz="15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В ходе выполнения курсовой работы была успешно разработана и реализована база данных для эффективного учета домашних финансов, отвечающая поставленным задачам.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837278" y="1590317"/>
            <a:ext cx="8140303" cy="1426607"/>
          </a:xfrm>
          <a:prstGeom prst="roundRect">
            <a:avLst>
              <a:gd fmla="val 4222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5988247" y="1752428"/>
            <a:ext cx="430173" cy="430173"/>
          </a:xfrm>
          <a:prstGeom prst="roundRect">
            <a:avLst>
              <a:gd fmla="val 21254439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6513833" y="1867715"/>
            <a:ext cx="18867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50"/>
              <a:buFont typeface="Alexandria SemiBold"/>
              <a:buNone/>
            </a:pPr>
            <a:r>
              <a:rPr b="1" lang="en-US" sz="1850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Разработана БД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6513820" y="2380873"/>
            <a:ext cx="7838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 Light"/>
              <a:buNone/>
            </a:pPr>
            <a:r>
              <a:rPr lang="en-US" sz="15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Создана функциональная база данных на PostgreSQL.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837278" y="3202959"/>
            <a:ext cx="8140303" cy="1426607"/>
          </a:xfrm>
          <a:prstGeom prst="roundRect">
            <a:avLst>
              <a:gd fmla="val 4222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5988250" y="3353930"/>
            <a:ext cx="430173" cy="430173"/>
          </a:xfrm>
          <a:prstGeom prst="roundRect">
            <a:avLst>
              <a:gd fmla="val 21254439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6513825" y="3275081"/>
            <a:ext cx="34821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50"/>
              <a:buFont typeface="Alexandria SemiBold"/>
              <a:buNone/>
            </a:pPr>
            <a:r>
              <a:rPr b="1" lang="en-US" sz="1850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Спроектированы модели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6513825" y="3735077"/>
            <a:ext cx="70683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 Light"/>
              <a:buNone/>
            </a:pPr>
            <a:r>
              <a:rPr lang="en-US" sz="15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Инфологическая, логическая и физическая модели обеспечивают структурированное хранение.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837278" y="4792802"/>
            <a:ext cx="8140303" cy="1426607"/>
          </a:xfrm>
          <a:prstGeom prst="roundRect">
            <a:avLst>
              <a:gd fmla="val 4222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5988250" y="4943773"/>
            <a:ext cx="430173" cy="430173"/>
          </a:xfrm>
          <a:prstGeom prst="roundRect">
            <a:avLst>
              <a:gd fmla="val 21254439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6605850" y="5047223"/>
            <a:ext cx="44520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50"/>
              <a:buFont typeface="Alexandria SemiBold"/>
              <a:buNone/>
            </a:pPr>
            <a:r>
              <a:rPr b="1" lang="en-US" sz="1850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Проработана безопасность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6418425" y="5427506"/>
            <a:ext cx="7838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 Light"/>
              <a:buNone/>
            </a:pPr>
            <a:r>
              <a:rPr lang="en-US" sz="15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Рассмотрены меры по обеспечению безопасности и разграничению доступа.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837278" y="6410801"/>
            <a:ext cx="8140303" cy="1426607"/>
          </a:xfrm>
          <a:prstGeom prst="roundRect">
            <a:avLst>
              <a:gd fmla="val 4222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5988250" y="6561772"/>
            <a:ext cx="430173" cy="430173"/>
          </a:xfrm>
          <a:prstGeom prst="roundRect">
            <a:avLst>
              <a:gd fmla="val 21254439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6605850" y="6576654"/>
            <a:ext cx="3829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50"/>
              <a:buFont typeface="Alexandria SemiBold"/>
              <a:buNone/>
            </a:pPr>
            <a:r>
              <a:rPr b="1" lang="en-US" sz="1850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Взаимодействие БД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6513825" y="7009498"/>
            <a:ext cx="7838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 Light"/>
              <a:buNone/>
            </a:pPr>
            <a:r>
              <a:rPr lang="en-US" sz="15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Реализовано взаимодействие БД с прикладным Java-приложением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2" name="Google Shape;2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8710" y="-60"/>
            <a:ext cx="622169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0"/>
          <p:cNvSpPr/>
          <p:nvPr/>
        </p:nvSpPr>
        <p:spPr>
          <a:xfrm>
            <a:off x="470059" y="1240274"/>
            <a:ext cx="7784783" cy="5748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6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2050"/>
              <a:buFont typeface="Alexandria SemiBold"/>
              <a:buNone/>
            </a:pPr>
            <a:r>
              <a:rPr b="1" lang="en-US" sz="9250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Благодарю за внимание</a:t>
            </a:r>
            <a:endParaRPr sz="9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2025-12-16T16:37:12Z</dcterms:created>
  <dc:creator>. kiss3luv</dc:creator>
</cp:coreProperties>
</file>