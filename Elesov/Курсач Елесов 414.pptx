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2.png" ContentType="image/png"/>
  <Override PartName="/ppt/media/image10.png" ContentType="image/png"/>
  <Override PartName="/ppt/media/image6.jpeg" ContentType="image/jpeg"/>
  <Override PartName="/ppt/media/image9.png" ContentType="image/png"/>
  <Override PartName="/ppt/media/image11.png" ContentType="image/png"/>
  <Override PartName="/ppt/media/image7.jpeg" ContentType="image/jpeg"/>
  <Override PartName="/ppt/media/image18.png" ContentType="image/png"/>
  <Override PartName="/ppt/media/image20.png" ContentType="image/png"/>
  <Override PartName="/ppt/media/image21.jpeg" ContentType="image/jpeg"/>
  <Override PartName="/ppt/media/image16.png" ContentType="image/png"/>
  <Override PartName="/ppt/media/image19.png" ContentType="image/png"/>
  <Override PartName="/ppt/media/image1.png" ContentType="image/png"/>
  <Override PartName="/ppt/media/image17.png" ContentType="image/png"/>
  <Override PartName="/ppt/media/image15.png" ContentType="image/png"/>
  <Override PartName="/ppt/media/image5.jpeg" ContentType="image/jpeg"/>
  <Override PartName="/ppt/media/image14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8.png" ContentType="image/png"/>
  <Override PartName="/ppt/media/image13.png" ContentType="image/png"/>
  <Override PartName="/ppt/presProps.xml" ContentType="application/vnd.openxmlformats-officedocument.presentationml.presPro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13.xml.rels" ContentType="application/vnd.openxmlformats-package.relationships+xml"/>
  <Override PartName="/ppt/slides/_rels/slide16.xml.rels" ContentType="application/vnd.openxmlformats-package.relationships+xml"/>
  <Override PartName="/ppt/slides/_rels/slide12.xml.rels" ContentType="application/vnd.openxmlformats-package.relationships+xml"/>
  <Override PartName="/ppt/slides/_rels/slide15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14.xml.rels" ContentType="application/vnd.openxmlformats-package.relationships+xml"/>
  <Override PartName="/ppt/slides/_rels/slide17.xml.rels" ContentType="application/vnd.openxmlformats-package.relationships+xml"/>
  <Override PartName="/ppt/slides/_rels/slide1.xml.rels" ContentType="application/vnd.openxmlformats-package.relationships+xml"/>
  <Override PartName="/ppt/slides/_rels/slide4.xml.rels" ContentType="application/vnd.openxmlformats-package.relationships+xml"/>
  <Override PartName="/ppt/slides/_rels/slide2.xml.rels" ContentType="application/vnd.openxmlformats-package.relationships+xml"/>
  <Override PartName="/ppt/slides/_rels/slide5.xml.rels" ContentType="application/vnd.openxmlformats-package.relationships+xml"/>
  <Override PartName="/ppt/slides/_rels/slide3.xml.rels" ContentType="application/vnd.openxmlformats-package.relationships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AC3780B-743B-4EFD-BA31-0101DC1AF14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931CD76-245D-492C-91BD-7F4CCE87004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C33BB71-838E-47FB-8BBF-3CB93A8F77F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B5C3ECE-7ECC-4281-AAA8-D45A9F2F5CF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A4F7F01-2143-42D9-8560-F3BA40BB631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B781FAF-08F2-4041-8DDA-E4A5BDF6502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1419706-AF8B-4C49-B1CC-10CC3F401CA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503C543-8108-4B9E-A6DE-3093A787986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A4E98AE-3CAB-4AD1-AEE9-248B8CA84CC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6365A50-1E55-43D2-A3C2-3ACC033CBA8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B5F4B2D-FDBD-4C6F-9312-1F15208BF51A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1000"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1000"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1000"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1000"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1000"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1000"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6D036EA-4420-4B73-88CD-7E42D915374F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D3AE5F2D-8D69-4CDF-AE6B-170DF82DF5E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0ABD6A4A-0D1D-41E6-ACA7-C2D42B2FACD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23EAE02C-F3F7-4417-9463-54EBF928A18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21A8029E-E87F-4CA0-815D-BE0BB284175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9B906DFD-86A1-4A58-9BE8-50DAB4AE098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57D2C284-CDDB-4A87-B437-8DCA376C492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B4480644-D511-46C3-9F7B-294EAADC2B9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C22A3BB4-966C-44D3-AD17-3F231D0A35E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268B7830-B8B8-4402-9BFC-C4A4DC239F5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B793B850-EF05-40E1-9B3A-06E21A9AAE8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EB090468-E1DB-4BF1-B5EF-E7F347A394EE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609480" y="221040"/>
            <a:ext cx="109724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ru-RU" sz="4400" spc="-1" strike="noStrike"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1000"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1000"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1000"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1000"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1000"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1000"/>
          </a:bodyPr>
          <a:p>
            <a:endParaRPr b="0" lang="ru-RU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C5755E95-EE4B-4DC9-9466-2E2D5A5B31F4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ru-RU" sz="1800" spc="-1" strike="noStrike">
                <a:latin typeface="Arial"/>
              </a:rPr>
              <a:t>Для правки текста заглавия щёлкните мышью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ru-RU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ru-RU" sz="1400" spc="-1" strike="noStrike">
                <a:latin typeface="Times New Roman"/>
              </a:rPr>
              <a:t>&lt;нижний колонтитул&gt;</a:t>
            </a:r>
            <a:endParaRPr b="0" lang="ru-RU" sz="14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0" lang="ru-RU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4F0E3F9-0379-49FC-8463-37B7C432F9F7}" type="slidenum">
              <a:rPr b="0" lang="ru-RU" sz="1200" spc="-1" strike="noStrike">
                <a:solidFill>
                  <a:srgbClr val="8b8b8b"/>
                </a:solidFill>
                <a:latin typeface="Calibri"/>
              </a:rPr>
              <a:t>&lt;номер&gt;</a:t>
            </a:fld>
            <a:endParaRPr b="0" lang="ru-RU" sz="12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ru-RU" sz="1400" spc="-1" strike="noStrike">
                <a:latin typeface="Times New Roman"/>
              </a:defRPr>
            </a:lvl1pPr>
          </a:lstStyle>
          <a:p>
            <a:r>
              <a:rPr b="0" lang="ru-RU" sz="1400" spc="-1" strike="noStrike">
                <a:latin typeface="Times New Roman"/>
              </a:rPr>
              <a:t>&lt;дата/время&gt;</a:t>
            </a:r>
            <a:endParaRPr b="0" lang="ru-RU" sz="14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latin typeface="Arial"/>
              </a:rPr>
              <a:t>Для правки структуры щёлкните мышью</a:t>
            </a:r>
            <a:endParaRPr b="0" lang="ru-RU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pc="-1" strike="noStrike">
                <a:latin typeface="Arial"/>
              </a:rPr>
              <a:t>Второй уровень структуры</a:t>
            </a:r>
            <a:endParaRPr b="0" lang="ru-RU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latin typeface="Arial"/>
              </a:rPr>
              <a:t>Третий уровень структуры</a:t>
            </a:r>
            <a:endParaRPr b="0" lang="ru-RU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latin typeface="Arial"/>
              </a:rPr>
              <a:t>Четвёртый уровень структуры</a:t>
            </a:r>
            <a:endParaRPr b="0" lang="ru-RU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latin typeface="Arial"/>
              </a:rPr>
              <a:t>Пятый уровень структуры</a:t>
            </a:r>
            <a:endParaRPr b="0" lang="ru-RU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latin typeface="Arial"/>
              </a:rPr>
              <a:t>Шестой уровень структуры</a:t>
            </a:r>
            <a:endParaRPr b="0" lang="ru-RU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latin typeface="Arial"/>
              </a:rPr>
              <a:t>Седьмой уровень структуры</a:t>
            </a:r>
            <a:endParaRPr b="0" lang="ru-RU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ftr" idx="4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ru-RU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ru-RU" sz="1400" spc="-1" strike="noStrike">
                <a:latin typeface="Times New Roman"/>
              </a:rPr>
              <a:t>&lt;нижний колонтитул&gt;</a:t>
            </a:r>
            <a:endParaRPr b="0" lang="ru-RU" sz="1400" spc="-1" strike="noStrike">
              <a:latin typeface="Times New Roman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sldNum" idx="5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0" lang="ru-RU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C42F6E6-F4AA-48D2-85C4-25C748CA5583}" type="slidenum">
              <a:rPr b="0" lang="ru-RU" sz="1200" spc="-1" strike="noStrike">
                <a:solidFill>
                  <a:srgbClr val="8b8b8b"/>
                </a:solidFill>
                <a:latin typeface="Calibri"/>
              </a:rPr>
              <a:t>&lt;номер&gt;</a:t>
            </a:fld>
            <a:endParaRPr b="0" lang="ru-RU" sz="1200" spc="-1" strike="noStrike"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 idx="6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ru-RU" sz="1400" spc="-1" strike="noStrike">
                <a:latin typeface="Times New Roman"/>
              </a:defRPr>
            </a:lvl1pPr>
          </a:lstStyle>
          <a:p>
            <a:r>
              <a:rPr b="0" lang="ru-RU" sz="1400" spc="-1" strike="noStrike">
                <a:latin typeface="Times New Roman"/>
              </a:rPr>
              <a:t>&lt;дата/время&gt;</a:t>
            </a:r>
            <a:endParaRPr b="0" lang="ru-RU" sz="14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ru-RU" sz="4400" spc="-1" strike="noStrike">
                <a:latin typeface="Arial"/>
              </a:rPr>
              <a:t>Для правки текста заглавия щёлкните мышью</a:t>
            </a:r>
            <a:endParaRPr b="0" lang="ru-RU" sz="4400" spc="-1" strike="noStrike">
              <a:latin typeface="Arial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latin typeface="Arial"/>
              </a:rPr>
              <a:t>Для правки структуры щёлкните мышью</a:t>
            </a:r>
            <a:endParaRPr b="0" lang="ru-RU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pc="-1" strike="noStrike">
                <a:latin typeface="Arial"/>
              </a:rPr>
              <a:t>Второй уровень структуры</a:t>
            </a:r>
            <a:endParaRPr b="0" lang="ru-RU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latin typeface="Arial"/>
              </a:rPr>
              <a:t>Третий уровень структуры</a:t>
            </a:r>
            <a:endParaRPr b="0" lang="ru-RU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latin typeface="Arial"/>
              </a:rPr>
              <a:t>Четвёртый уровень структуры</a:t>
            </a:r>
            <a:endParaRPr b="0" lang="ru-RU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latin typeface="Arial"/>
              </a:rPr>
              <a:t>Пятый уровень структуры</a:t>
            </a:r>
            <a:endParaRPr b="0" lang="ru-RU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latin typeface="Arial"/>
              </a:rPr>
              <a:t>Шестой уровень структуры</a:t>
            </a:r>
            <a:endParaRPr b="0" lang="ru-RU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latin typeface="Arial"/>
              </a:rPr>
              <a:t>Седьмой уровень структуры</a:t>
            </a:r>
            <a:endParaRPr b="0" lang="ru-RU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slideLayout" Target="../slideLayouts/slideLayout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4.png"/><Relationship Id="rId3" Type="http://schemas.openxmlformats.org/officeDocument/2006/relationships/slideLayout" Target="../slideLayouts/slideLayout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3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image" Target="../media/image20.png"/><Relationship Id="rId3" Type="http://schemas.openxmlformats.org/officeDocument/2006/relationships/slideLayout" Target="../slideLayouts/slideLayout3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21.jpeg"/><Relationship Id="rId2" Type="http://schemas.openxmlformats.org/officeDocument/2006/relationships/slideLayout" Target="../slideLayouts/slideLayout3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Прямоугольник 6"/>
          <p:cNvSpPr/>
          <p:nvPr/>
        </p:nvSpPr>
        <p:spPr>
          <a:xfrm rot="18475200">
            <a:off x="-729720" y="2850480"/>
            <a:ext cx="4012920" cy="7075800"/>
          </a:xfrm>
          <a:prstGeom prst="rect">
            <a:avLst/>
          </a:prstGeom>
          <a:solidFill>
            <a:srgbClr val="7030a0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280" cy="23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rmAutofit fontScale="85000"/>
          </a:bodyPr>
          <a:p>
            <a:pPr algn="ctr">
              <a:lnSpc>
                <a:spcPct val="90000"/>
              </a:lnSpc>
              <a:buNone/>
            </a:pPr>
            <a:r>
              <a:rPr b="1" lang="ru-RU" sz="6000" spc="-1" strike="noStrike">
                <a:solidFill>
                  <a:srgbClr val="7030a0"/>
                </a:solidFill>
                <a:latin typeface="Montserrat Ace"/>
              </a:rPr>
              <a:t>База данных для гостиницы. Подсистема «Работа с клиентами»</a:t>
            </a:r>
            <a:endParaRPr b="0" lang="ru-RU" sz="6000" spc="-1" strike="noStrike">
              <a:latin typeface="Arial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 type="subTitle"/>
          </p:nvPr>
        </p:nvSpPr>
        <p:spPr>
          <a:xfrm>
            <a:off x="2944440" y="4907880"/>
            <a:ext cx="9143280" cy="1654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7000"/>
          </a:bodyPr>
          <a:p>
            <a:pPr algn="r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ru-RU" sz="2400" spc="-1" strike="noStrike">
                <a:solidFill>
                  <a:srgbClr val="7030a0"/>
                </a:solidFill>
                <a:latin typeface="Montserrat Ace"/>
              </a:rPr>
              <a:t>Выполнил</a:t>
            </a:r>
            <a:endParaRPr b="0" lang="ru-RU" sz="2400" spc="-1" strike="noStrike">
              <a:latin typeface="Arial"/>
            </a:endParaRPr>
          </a:p>
          <a:p>
            <a:pPr algn="r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400" spc="-1" strike="noStrike">
                <a:solidFill>
                  <a:srgbClr val="000000"/>
                </a:solidFill>
                <a:latin typeface="Montserrat Ace"/>
              </a:rPr>
              <a:t>Студент 414 группы Елесов Михаил Игоревич</a:t>
            </a:r>
            <a:endParaRPr b="0" lang="ru-RU" sz="2400" spc="-1" strike="noStrike">
              <a:latin typeface="Arial"/>
            </a:endParaRPr>
          </a:p>
          <a:p>
            <a:pPr algn="r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ru-RU" sz="2400" spc="-1" strike="noStrike">
                <a:solidFill>
                  <a:srgbClr val="7030a0"/>
                </a:solidFill>
                <a:latin typeface="Montserrat Ace"/>
              </a:rPr>
              <a:t>Руководитель</a:t>
            </a:r>
            <a:endParaRPr b="0" lang="ru-RU" sz="2400" spc="-1" strike="noStrike">
              <a:latin typeface="Arial"/>
            </a:endParaRPr>
          </a:p>
          <a:p>
            <a:pPr algn="r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400" spc="-1" strike="noStrike">
                <a:solidFill>
                  <a:srgbClr val="000000"/>
                </a:solidFill>
                <a:latin typeface="Montserrat Ace"/>
              </a:rPr>
              <a:t>Пунгин Илья Вячеславович</a:t>
            </a:r>
            <a:endParaRPr b="0" lang="ru-RU" sz="2400" spc="-1" strike="noStrike">
              <a:latin typeface="Arial"/>
            </a:endParaRPr>
          </a:p>
        </p:txBody>
      </p:sp>
      <p:pic>
        <p:nvPicPr>
          <p:cNvPr id="85" name="Рисунок 5" descr=""/>
          <p:cNvPicPr/>
          <p:nvPr/>
        </p:nvPicPr>
        <p:blipFill>
          <a:blip r:embed="rId1"/>
          <a:stretch/>
        </p:blipFill>
        <p:spPr>
          <a:xfrm>
            <a:off x="245520" y="3630960"/>
            <a:ext cx="2840400" cy="2840400"/>
          </a:xfrm>
          <a:prstGeom prst="rect">
            <a:avLst/>
          </a:prstGeom>
          <a:ln w="0">
            <a:noFill/>
          </a:ln>
        </p:spPr>
      </p:pic>
      <p:sp>
        <p:nvSpPr>
          <p:cNvPr id="86" name="Прямоугольник 9"/>
          <p:cNvSpPr/>
          <p:nvPr/>
        </p:nvSpPr>
        <p:spPr>
          <a:xfrm rot="18475200">
            <a:off x="9896040" y="-4549320"/>
            <a:ext cx="4012920" cy="7075800"/>
          </a:xfrm>
          <a:prstGeom prst="rect">
            <a:avLst/>
          </a:prstGeom>
          <a:solidFill>
            <a:srgbClr val="7030a0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Рисунок 1" descr=""/>
          <p:cNvPicPr/>
          <p:nvPr/>
        </p:nvPicPr>
        <p:blipFill>
          <a:blip r:embed="rId1"/>
          <a:stretch/>
        </p:blipFill>
        <p:spPr>
          <a:xfrm>
            <a:off x="7579080" y="937080"/>
            <a:ext cx="5740200" cy="5514120"/>
          </a:xfrm>
          <a:prstGeom prst="rect">
            <a:avLst/>
          </a:prstGeom>
          <a:ln w="0">
            <a:noFill/>
          </a:ln>
        </p:spPr>
      </p:pic>
      <p:sp>
        <p:nvSpPr>
          <p:cNvPr id="88" name="Прямоугольник 6"/>
          <p:cNvSpPr/>
          <p:nvPr/>
        </p:nvSpPr>
        <p:spPr>
          <a:xfrm rot="18475200">
            <a:off x="-2220120" y="4130640"/>
            <a:ext cx="4012920" cy="7075800"/>
          </a:xfrm>
          <a:prstGeom prst="rect">
            <a:avLst/>
          </a:prstGeom>
          <a:solidFill>
            <a:srgbClr val="7030a0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9" name="Прямоугольник 9"/>
          <p:cNvSpPr/>
          <p:nvPr/>
        </p:nvSpPr>
        <p:spPr>
          <a:xfrm rot="18475200">
            <a:off x="10184760" y="-4878360"/>
            <a:ext cx="4012920" cy="7075800"/>
          </a:xfrm>
          <a:prstGeom prst="rect">
            <a:avLst/>
          </a:prstGeom>
          <a:solidFill>
            <a:srgbClr val="7030a0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0" name="TextBox 11"/>
          <p:cNvSpPr/>
          <p:nvPr/>
        </p:nvSpPr>
        <p:spPr>
          <a:xfrm>
            <a:off x="4577040" y="0"/>
            <a:ext cx="303732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ru-RU" sz="4000" spc="-1" strike="noStrike">
                <a:solidFill>
                  <a:srgbClr val="7030a0"/>
                </a:solidFill>
                <a:latin typeface="Montserrat Ace"/>
                <a:ea typeface="DejaVu Sans"/>
              </a:rPr>
              <a:t>Введение</a:t>
            </a:r>
            <a:endParaRPr b="0" lang="ru-RU" sz="4000" spc="-1" strike="noStrike">
              <a:latin typeface="Arial"/>
            </a:endParaRPr>
          </a:p>
        </p:txBody>
      </p:sp>
      <p:sp>
        <p:nvSpPr>
          <p:cNvPr id="91" name="TextBox 13"/>
          <p:cNvSpPr/>
          <p:nvPr/>
        </p:nvSpPr>
        <p:spPr>
          <a:xfrm>
            <a:off x="0" y="1662840"/>
            <a:ext cx="8048160" cy="21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>
              <a:lnSpc>
                <a:spcPct val="150000"/>
              </a:lnSpc>
              <a:spcAft>
                <a:spcPts val="799"/>
              </a:spcAft>
              <a:buNone/>
              <a:tabLst>
                <a:tab algn="l" pos="0"/>
              </a:tabLst>
            </a:pPr>
            <a:r>
              <a:rPr b="1" lang="ru-RU" sz="2000" spc="-1" strike="noStrike">
                <a:solidFill>
                  <a:srgbClr val="7030a0"/>
                </a:solidFill>
                <a:latin typeface="Montserrat Ace"/>
                <a:ea typeface="Times New Roman"/>
              </a:rPr>
              <a:t>Актуальность темы</a:t>
            </a:r>
            <a:endParaRPr b="0" lang="ru-RU" sz="2000" spc="-1" strike="noStrike">
              <a:latin typeface="Arial"/>
            </a:endParaRPr>
          </a:p>
          <a:p>
            <a:pPr algn="just">
              <a:lnSpc>
                <a:spcPct val="150000"/>
              </a:lnSpc>
              <a:spcAft>
                <a:spcPts val="799"/>
              </a:spcAft>
              <a:buNone/>
              <a:tabLst>
                <a:tab algn="l" pos="0"/>
              </a:tabLst>
            </a:pPr>
            <a:r>
              <a:rPr b="0" lang="ru-RU" sz="1200" spc="-1" strike="noStrike">
                <a:solidFill>
                  <a:srgbClr val="000000"/>
                </a:solidFill>
                <a:latin typeface="Montserrat Ace"/>
                <a:ea typeface="Times New Roman"/>
              </a:rPr>
              <a:t>Современные отели предлагают много услуг: регистрация клиентов, бронирование номеров, составление расписаний и пр. Из-за этого информации становится очень много — о клиентах, бронях, номерах, финансах.</a:t>
            </a:r>
            <a:endParaRPr b="0" lang="ru-RU" sz="1200" spc="-1" strike="noStrike">
              <a:latin typeface="Arial"/>
            </a:endParaRPr>
          </a:p>
          <a:p>
            <a:pPr algn="just">
              <a:lnSpc>
                <a:spcPct val="150000"/>
              </a:lnSpc>
              <a:spcAft>
                <a:spcPts val="799"/>
              </a:spcAft>
              <a:buNone/>
              <a:tabLst>
                <a:tab algn="l" pos="0"/>
              </a:tabLst>
            </a:pPr>
            <a:r>
              <a:rPr b="0" lang="ru-RU" sz="1200" spc="-1" strike="noStrike">
                <a:solidFill>
                  <a:srgbClr val="000000"/>
                </a:solidFill>
                <a:latin typeface="Montserrat Ace"/>
                <a:ea typeface="Times New Roman"/>
              </a:rPr>
              <a:t>База данных упрощает структурирование, хранение больших объёмов информации, а также управление ими, поэтому тема считается довольно актуальной.</a:t>
            </a:r>
            <a:endParaRPr b="0" lang="ru-RU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Прямоугольник 6"/>
          <p:cNvSpPr/>
          <p:nvPr/>
        </p:nvSpPr>
        <p:spPr>
          <a:xfrm rot="18475200">
            <a:off x="-2220120" y="4130640"/>
            <a:ext cx="4012920" cy="7075800"/>
          </a:xfrm>
          <a:prstGeom prst="rect">
            <a:avLst/>
          </a:prstGeom>
          <a:solidFill>
            <a:srgbClr val="7030a0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3" name="Прямоугольник 9"/>
          <p:cNvSpPr/>
          <p:nvPr/>
        </p:nvSpPr>
        <p:spPr>
          <a:xfrm rot="18475200">
            <a:off x="10184760" y="-4878360"/>
            <a:ext cx="4012920" cy="7075800"/>
          </a:xfrm>
          <a:prstGeom prst="rect">
            <a:avLst/>
          </a:prstGeom>
          <a:solidFill>
            <a:srgbClr val="7030a0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4" name="TextBox 11"/>
          <p:cNvSpPr/>
          <p:nvPr/>
        </p:nvSpPr>
        <p:spPr>
          <a:xfrm>
            <a:off x="4577040" y="0"/>
            <a:ext cx="303732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ru-RU" sz="4000" spc="-1" strike="noStrike">
                <a:solidFill>
                  <a:srgbClr val="7030a0"/>
                </a:solidFill>
                <a:latin typeface="Montserrat Ace"/>
                <a:ea typeface="DejaVu Sans"/>
              </a:rPr>
              <a:t>Введение</a:t>
            </a:r>
            <a:endParaRPr b="0" lang="ru-RU" sz="4000" spc="-1" strike="noStrike">
              <a:latin typeface="Arial"/>
            </a:endParaRPr>
          </a:p>
        </p:txBody>
      </p:sp>
      <p:sp>
        <p:nvSpPr>
          <p:cNvPr id="95" name="TextBox 13"/>
          <p:cNvSpPr/>
          <p:nvPr/>
        </p:nvSpPr>
        <p:spPr>
          <a:xfrm>
            <a:off x="210960" y="1475280"/>
            <a:ext cx="5204520" cy="416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>
              <a:lnSpc>
                <a:spcPct val="150000"/>
              </a:lnSpc>
              <a:spcAft>
                <a:spcPts val="799"/>
              </a:spcAft>
              <a:buNone/>
              <a:tabLst>
                <a:tab algn="l" pos="0"/>
              </a:tabLst>
            </a:pPr>
            <a:r>
              <a:rPr b="1" lang="ru-RU" sz="2000" spc="-1" strike="noStrike">
                <a:solidFill>
                  <a:srgbClr val="7030a0"/>
                </a:solidFill>
                <a:latin typeface="Montserrat Ace"/>
                <a:ea typeface="Times New Roman"/>
              </a:rPr>
              <a:t>Цель и Задачи</a:t>
            </a:r>
            <a:endParaRPr b="0" lang="ru-RU" sz="2000" spc="-1" strike="noStrike">
              <a:latin typeface="Arial"/>
            </a:endParaRPr>
          </a:p>
          <a:p>
            <a:pPr algn="just">
              <a:lnSpc>
                <a:spcPct val="150000"/>
              </a:lnSpc>
              <a:spcAft>
                <a:spcPts val="799"/>
              </a:spcAft>
              <a:buNone/>
              <a:tabLst>
                <a:tab algn="l" pos="0"/>
              </a:tabLst>
            </a:pPr>
            <a:r>
              <a:rPr b="1" lang="ru-RU" sz="1200" spc="-1" strike="noStrike">
                <a:solidFill>
                  <a:srgbClr val="000000"/>
                </a:solidFill>
                <a:latin typeface="Montserrat Ace"/>
                <a:ea typeface="Times New Roman"/>
              </a:rPr>
              <a:t>Целью</a:t>
            </a:r>
            <a:r>
              <a:rPr b="0" lang="ru-RU" sz="1200" spc="-1" strike="noStrike">
                <a:solidFill>
                  <a:srgbClr val="000000"/>
                </a:solidFill>
                <a:latin typeface="Montserrat Ace"/>
                <a:ea typeface="Times New Roman"/>
              </a:rPr>
              <a:t> является создание системы управления гостиницей на основе базы данных с удобным пользовательским интерфейсом.</a:t>
            </a:r>
            <a:endParaRPr b="0" lang="ru-RU" sz="1200" spc="-1" strike="noStrike">
              <a:latin typeface="Arial"/>
            </a:endParaRPr>
          </a:p>
          <a:p>
            <a:pPr algn="just">
              <a:lnSpc>
                <a:spcPct val="150000"/>
              </a:lnSpc>
              <a:spcAft>
                <a:spcPts val="799"/>
              </a:spcAft>
              <a:buNone/>
              <a:tabLst>
                <a:tab algn="l" pos="0"/>
              </a:tabLst>
            </a:pPr>
            <a:r>
              <a:rPr b="0" lang="ru-RU" sz="1200" spc="-1" strike="noStrike">
                <a:solidFill>
                  <a:srgbClr val="000000"/>
                </a:solidFill>
                <a:latin typeface="Montserrat Ace"/>
                <a:ea typeface="Times New Roman"/>
              </a:rPr>
              <a:t>Для достижения цели были поставлены </a:t>
            </a:r>
            <a:r>
              <a:rPr b="1" lang="ru-RU" sz="1200" spc="-1" strike="noStrike">
                <a:solidFill>
                  <a:srgbClr val="000000"/>
                </a:solidFill>
                <a:latin typeface="Montserrat Ace"/>
                <a:ea typeface="Times New Roman"/>
              </a:rPr>
              <a:t>задачи:</a:t>
            </a:r>
            <a:endParaRPr b="0" lang="ru-RU" sz="1200" spc="-1" strike="noStrike">
              <a:latin typeface="Arial"/>
            </a:endParaRPr>
          </a:p>
          <a:p>
            <a:pPr marL="343080" indent="-343080" algn="just">
              <a:lnSpc>
                <a:spcPct val="150000"/>
              </a:lnSpc>
              <a:spcAft>
                <a:spcPts val="799"/>
              </a:spcAft>
              <a:buClr>
                <a:srgbClr val="000000"/>
              </a:buClr>
              <a:buFont typeface="Calibri Light"/>
              <a:buAutoNum type="arabicPeriod"/>
              <a:tabLst>
                <a:tab algn="l" pos="0"/>
              </a:tabLst>
            </a:pPr>
            <a:r>
              <a:rPr b="0" lang="ru-RU" sz="1200" spc="-1" strike="noStrike">
                <a:solidFill>
                  <a:srgbClr val="000000"/>
                </a:solidFill>
                <a:latin typeface="Montserrat Ace"/>
                <a:ea typeface="Times New Roman"/>
              </a:rPr>
              <a:t>Анализ предметной области</a:t>
            </a:r>
            <a:endParaRPr b="0" lang="ru-RU" sz="1200" spc="-1" strike="noStrike">
              <a:latin typeface="Arial"/>
            </a:endParaRPr>
          </a:p>
          <a:p>
            <a:pPr marL="343080" indent="-343080" algn="just">
              <a:lnSpc>
                <a:spcPct val="150000"/>
              </a:lnSpc>
              <a:spcAft>
                <a:spcPts val="799"/>
              </a:spcAft>
              <a:buClr>
                <a:srgbClr val="000000"/>
              </a:buClr>
              <a:buFont typeface="Calibri Light"/>
              <a:buAutoNum type="arabicPeriod"/>
              <a:tabLst>
                <a:tab algn="l" pos="0"/>
              </a:tabLst>
            </a:pPr>
            <a:r>
              <a:rPr b="0" lang="ru-RU" sz="1200" spc="-1" strike="noStrike">
                <a:solidFill>
                  <a:srgbClr val="000000"/>
                </a:solidFill>
                <a:latin typeface="Montserrat Ace"/>
                <a:ea typeface="Times New Roman"/>
              </a:rPr>
              <a:t>Описание структуры базы данных (концептуальная, логическая и физическая модели)</a:t>
            </a:r>
            <a:endParaRPr b="0" lang="ru-RU" sz="1200" spc="-1" strike="noStrike">
              <a:latin typeface="Arial"/>
            </a:endParaRPr>
          </a:p>
          <a:p>
            <a:pPr marL="343080" indent="-343080" algn="just">
              <a:lnSpc>
                <a:spcPct val="150000"/>
              </a:lnSpc>
              <a:spcAft>
                <a:spcPts val="799"/>
              </a:spcAft>
              <a:buClr>
                <a:srgbClr val="000000"/>
              </a:buClr>
              <a:buFont typeface="Calibri Light"/>
              <a:buAutoNum type="arabicPeriod"/>
              <a:tabLst>
                <a:tab algn="l" pos="0"/>
              </a:tabLst>
            </a:pPr>
            <a:r>
              <a:rPr b="0" lang="ru-RU" sz="1200" spc="-1" strike="noStrike">
                <a:solidFill>
                  <a:srgbClr val="000000"/>
                </a:solidFill>
                <a:latin typeface="Montserrat Ace"/>
                <a:ea typeface="Times New Roman"/>
              </a:rPr>
              <a:t>Реализация базы данных в СУБД </a:t>
            </a:r>
            <a:r>
              <a:rPr b="0" lang="en-US" sz="1200" spc="-1" strike="noStrike">
                <a:solidFill>
                  <a:srgbClr val="000000"/>
                </a:solidFill>
                <a:latin typeface="Montserrat Ace"/>
                <a:ea typeface="Times New Roman"/>
              </a:rPr>
              <a:t>PostgreSQL</a:t>
            </a:r>
            <a:endParaRPr b="0" lang="ru-RU" sz="1200" spc="-1" strike="noStrike">
              <a:latin typeface="Arial"/>
            </a:endParaRPr>
          </a:p>
          <a:p>
            <a:pPr marL="343080" indent="-343080" algn="just">
              <a:lnSpc>
                <a:spcPct val="150000"/>
              </a:lnSpc>
              <a:spcAft>
                <a:spcPts val="799"/>
              </a:spcAft>
              <a:buClr>
                <a:srgbClr val="000000"/>
              </a:buClr>
              <a:buFont typeface="Calibri Light"/>
              <a:buAutoNum type="arabicPeriod"/>
              <a:tabLst>
                <a:tab algn="l" pos="0"/>
              </a:tabLst>
            </a:pPr>
            <a:r>
              <a:rPr b="0" lang="ru-RU" sz="1200" spc="-1" strike="noStrike">
                <a:solidFill>
                  <a:srgbClr val="000000"/>
                </a:solidFill>
                <a:latin typeface="Montserrat Ace"/>
                <a:ea typeface="Times New Roman"/>
              </a:rPr>
              <a:t>Реализация пользовательского интерфейса с помощью языка программирования </a:t>
            </a:r>
            <a:r>
              <a:rPr b="0" lang="en-US" sz="1200" spc="-1" strike="noStrike">
                <a:solidFill>
                  <a:srgbClr val="000000"/>
                </a:solidFill>
                <a:latin typeface="Montserrat Ace"/>
                <a:ea typeface="Times New Roman"/>
              </a:rPr>
              <a:t>Python</a:t>
            </a:r>
            <a:r>
              <a:rPr b="0" lang="ru-RU" sz="1200" spc="-1" strike="noStrike">
                <a:solidFill>
                  <a:srgbClr val="000000"/>
                </a:solidFill>
                <a:latin typeface="Montserrat Ace"/>
                <a:ea typeface="Times New Roman"/>
              </a:rPr>
              <a:t> в редакторе </a:t>
            </a:r>
            <a:r>
              <a:rPr b="0" lang="en-US" sz="1200" spc="-1" strike="noStrike">
                <a:solidFill>
                  <a:srgbClr val="000000"/>
                </a:solidFill>
                <a:latin typeface="Montserrat Ace"/>
                <a:ea typeface="Times New Roman"/>
              </a:rPr>
              <a:t>Visual Studio Code</a:t>
            </a:r>
            <a:endParaRPr b="0" lang="ru-RU" sz="1200" spc="-1" strike="noStrike">
              <a:latin typeface="Arial"/>
            </a:endParaRPr>
          </a:p>
        </p:txBody>
      </p:sp>
      <p:pic>
        <p:nvPicPr>
          <p:cNvPr id="96" name="Picture 2" descr="Picture background"/>
          <p:cNvPicPr/>
          <p:nvPr/>
        </p:nvPicPr>
        <p:blipFill>
          <a:blip r:embed="rId1"/>
          <a:stretch/>
        </p:blipFill>
        <p:spPr>
          <a:xfrm>
            <a:off x="5965200" y="797040"/>
            <a:ext cx="3018600" cy="3113640"/>
          </a:xfrm>
          <a:prstGeom prst="rect">
            <a:avLst/>
          </a:prstGeom>
          <a:ln w="0">
            <a:noFill/>
          </a:ln>
        </p:spPr>
      </p:pic>
      <p:pic>
        <p:nvPicPr>
          <p:cNvPr id="97" name="Picture 8" descr="Picture background"/>
          <p:cNvPicPr/>
          <p:nvPr/>
        </p:nvPicPr>
        <p:blipFill>
          <a:blip r:embed="rId2"/>
          <a:stretch/>
        </p:blipFill>
        <p:spPr>
          <a:xfrm>
            <a:off x="8381160" y="3154680"/>
            <a:ext cx="3485880" cy="3472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Прямоугольник 6"/>
          <p:cNvSpPr/>
          <p:nvPr/>
        </p:nvSpPr>
        <p:spPr>
          <a:xfrm rot="18475200">
            <a:off x="-2220120" y="4130640"/>
            <a:ext cx="4012920" cy="7075800"/>
          </a:xfrm>
          <a:prstGeom prst="rect">
            <a:avLst/>
          </a:prstGeom>
          <a:solidFill>
            <a:srgbClr val="7030a0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9" name="Прямоугольник 9"/>
          <p:cNvSpPr/>
          <p:nvPr/>
        </p:nvSpPr>
        <p:spPr>
          <a:xfrm rot="18475200">
            <a:off x="10184760" y="-4878360"/>
            <a:ext cx="4012920" cy="7075800"/>
          </a:xfrm>
          <a:prstGeom prst="rect">
            <a:avLst/>
          </a:prstGeom>
          <a:solidFill>
            <a:srgbClr val="7030a0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0" name="TextBox 11"/>
          <p:cNvSpPr/>
          <p:nvPr/>
        </p:nvSpPr>
        <p:spPr>
          <a:xfrm>
            <a:off x="1803600" y="0"/>
            <a:ext cx="858456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ru-RU" sz="4000" spc="-1" strike="noStrike">
                <a:solidFill>
                  <a:srgbClr val="7030a0"/>
                </a:solidFill>
                <a:latin typeface="Montserrat Ace"/>
                <a:ea typeface="DejaVu Sans"/>
              </a:rPr>
              <a:t>Анализ предметной области</a:t>
            </a:r>
            <a:endParaRPr b="0" lang="ru-RU" sz="4000" spc="-1" strike="noStrike">
              <a:latin typeface="Arial"/>
            </a:endParaRPr>
          </a:p>
        </p:txBody>
      </p:sp>
      <p:sp>
        <p:nvSpPr>
          <p:cNvPr id="101" name="TextBox 13"/>
          <p:cNvSpPr/>
          <p:nvPr/>
        </p:nvSpPr>
        <p:spPr>
          <a:xfrm>
            <a:off x="1260000" y="1620000"/>
            <a:ext cx="5204520" cy="38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50000"/>
              </a:lnSpc>
              <a:spcAft>
                <a:spcPts val="799"/>
              </a:spcAft>
              <a:buNone/>
              <a:tabLst>
                <a:tab algn="l" pos="0"/>
              </a:tabLst>
            </a:pPr>
            <a:r>
              <a:rPr b="1" lang="ru-RU" sz="2000" spc="-1" strike="noStrike">
                <a:solidFill>
                  <a:srgbClr val="7030a0"/>
                </a:solidFill>
                <a:latin typeface="Montserrat Ace"/>
                <a:ea typeface="Times New Roman"/>
              </a:rPr>
              <a:t>Описание предметной области</a:t>
            </a:r>
            <a:endParaRPr b="0" lang="ru-RU" sz="2000" spc="-1" strike="noStrike">
              <a:latin typeface="Arial"/>
            </a:endParaRPr>
          </a:p>
          <a:p>
            <a:pPr algn="r">
              <a:lnSpc>
                <a:spcPct val="150000"/>
              </a:lnSpc>
              <a:spcAft>
                <a:spcPts val="799"/>
              </a:spcAft>
              <a:buNone/>
              <a:tabLst>
                <a:tab algn="l" pos="0"/>
              </a:tabLst>
            </a:pPr>
            <a:r>
              <a:rPr b="0" lang="ru-RU" sz="1200" spc="-1" strike="noStrike">
                <a:solidFill>
                  <a:srgbClr val="000000"/>
                </a:solidFill>
                <a:latin typeface="Montserrat Ace"/>
                <a:ea typeface="Calibri"/>
              </a:rPr>
              <a:t>База данных для гостиницы должна хранить информацию о постояльцах, работниках, комнатах и их статусах и историю бронирований.</a:t>
            </a:r>
            <a:endParaRPr b="0" lang="ru-RU" sz="1200" spc="-1" strike="noStrike">
              <a:latin typeface="Arial"/>
            </a:endParaRPr>
          </a:p>
          <a:p>
            <a:pPr>
              <a:lnSpc>
                <a:spcPct val="150000"/>
              </a:lnSpc>
              <a:spcAft>
                <a:spcPts val="799"/>
              </a:spcAft>
              <a:buNone/>
              <a:tabLst>
                <a:tab algn="l" pos="0"/>
              </a:tabLst>
            </a:pPr>
            <a:endParaRPr b="0" lang="ru-RU" sz="1200" spc="-1" strike="noStrike">
              <a:latin typeface="Arial"/>
            </a:endParaRPr>
          </a:p>
          <a:p>
            <a:pPr>
              <a:lnSpc>
                <a:spcPct val="150000"/>
              </a:lnSpc>
              <a:spcAft>
                <a:spcPts val="799"/>
              </a:spcAft>
              <a:buNone/>
              <a:tabLst>
                <a:tab algn="l" pos="0"/>
              </a:tabLst>
            </a:pPr>
            <a:r>
              <a:rPr b="1" lang="ru-RU" sz="2000" spc="-1" strike="noStrike">
                <a:solidFill>
                  <a:srgbClr val="7030a0"/>
                </a:solidFill>
                <a:latin typeface="Montserrat Ace"/>
                <a:ea typeface="Calibri"/>
              </a:rPr>
              <a:t>Основные компоненты системы:</a:t>
            </a:r>
            <a:endParaRPr b="0" lang="ru-RU" sz="2000" spc="-1" strike="noStrike">
              <a:latin typeface="Arial"/>
            </a:endParaRP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Calibri Light"/>
              <a:buAutoNum type="arabicPeriod"/>
              <a:tabLst>
                <a:tab algn="l" pos="0"/>
              </a:tabLst>
            </a:pPr>
            <a:r>
              <a:rPr b="0" lang="ru-RU" sz="1200" spc="-1" strike="noStrike">
                <a:solidFill>
                  <a:srgbClr val="000000"/>
                </a:solidFill>
                <a:latin typeface="Montserrat Ace"/>
                <a:ea typeface="Calibri"/>
              </a:rPr>
              <a:t>Список должностей</a:t>
            </a:r>
            <a:endParaRPr b="0" lang="ru-RU" sz="1200" spc="-1" strike="noStrike">
              <a:latin typeface="Arial"/>
            </a:endParaRP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Calibri Light"/>
              <a:buAutoNum type="arabicPeriod"/>
              <a:tabLst>
                <a:tab algn="l" pos="0"/>
              </a:tabLst>
            </a:pPr>
            <a:r>
              <a:rPr b="0" lang="ru-RU" sz="1200" spc="-1" strike="noStrike">
                <a:solidFill>
                  <a:srgbClr val="000000"/>
                </a:solidFill>
                <a:latin typeface="Montserrat Ace"/>
                <a:ea typeface="Calibri"/>
              </a:rPr>
              <a:t>Список сотрудников</a:t>
            </a:r>
            <a:endParaRPr b="0" lang="ru-RU" sz="1200" spc="-1" strike="noStrike">
              <a:latin typeface="Arial"/>
            </a:endParaRP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Calibri Light"/>
              <a:buAutoNum type="arabicPeriod"/>
              <a:tabLst>
                <a:tab algn="l" pos="0"/>
              </a:tabLst>
            </a:pPr>
            <a:r>
              <a:rPr b="0" lang="ru-RU" sz="1200" spc="-1" strike="noStrike">
                <a:solidFill>
                  <a:srgbClr val="000000"/>
                </a:solidFill>
                <a:latin typeface="Montserrat Ace"/>
                <a:ea typeface="Calibri"/>
              </a:rPr>
              <a:t>Список номеров</a:t>
            </a:r>
            <a:endParaRPr b="0" lang="ru-RU" sz="1200" spc="-1" strike="noStrike">
              <a:latin typeface="Arial"/>
            </a:endParaRPr>
          </a:p>
          <a:p>
            <a:pPr marL="343080" indent="-343080">
              <a:lnSpc>
                <a:spcPct val="150000"/>
              </a:lnSpc>
              <a:buClr>
                <a:srgbClr val="000000"/>
              </a:buClr>
              <a:buFont typeface="Calibri Light"/>
              <a:buAutoNum type="arabicPeriod"/>
              <a:tabLst>
                <a:tab algn="l" pos="0"/>
              </a:tabLst>
            </a:pPr>
            <a:r>
              <a:rPr b="0" lang="ru-RU" sz="1200" spc="-1" strike="noStrike">
                <a:solidFill>
                  <a:srgbClr val="000000"/>
                </a:solidFill>
                <a:latin typeface="Montserrat Ace"/>
                <a:ea typeface="Calibri"/>
              </a:rPr>
              <a:t>Список постояльцев</a:t>
            </a:r>
            <a:endParaRPr b="0" lang="ru-RU" sz="1200" spc="-1" strike="noStrike">
              <a:latin typeface="Arial"/>
            </a:endParaRPr>
          </a:p>
          <a:p>
            <a:pPr marL="343080" indent="-343080">
              <a:lnSpc>
                <a:spcPct val="150000"/>
              </a:lnSpc>
              <a:spcAft>
                <a:spcPts val="799"/>
              </a:spcAft>
              <a:buClr>
                <a:srgbClr val="000000"/>
              </a:buClr>
              <a:buFont typeface="Calibri Light"/>
              <a:buAutoNum type="arabicPeriod"/>
              <a:tabLst>
                <a:tab algn="l" pos="0"/>
              </a:tabLst>
            </a:pPr>
            <a:r>
              <a:rPr b="0" lang="ru-RU" sz="1200" spc="-1" strike="noStrike">
                <a:solidFill>
                  <a:srgbClr val="000000"/>
                </a:solidFill>
                <a:latin typeface="Montserrat Ace"/>
                <a:ea typeface="Calibri"/>
              </a:rPr>
              <a:t>История бронирований</a:t>
            </a:r>
            <a:endParaRPr b="0" lang="ru-RU" sz="1200" spc="-1" strike="noStrike">
              <a:latin typeface="Arial"/>
            </a:endParaRPr>
          </a:p>
        </p:txBody>
      </p:sp>
      <p:pic>
        <p:nvPicPr>
          <p:cNvPr id="102" name="Picture 8" descr="Picture background"/>
          <p:cNvPicPr/>
          <p:nvPr/>
        </p:nvPicPr>
        <p:blipFill>
          <a:blip r:embed="rId1"/>
          <a:srcRect l="13272" t="26595" r="14170" b="24592"/>
          <a:stretch/>
        </p:blipFill>
        <p:spPr>
          <a:xfrm>
            <a:off x="7543800" y="1362240"/>
            <a:ext cx="4141440" cy="4179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Picture 8" descr="Picture background"/>
          <p:cNvPicPr/>
          <p:nvPr/>
        </p:nvPicPr>
        <p:blipFill>
          <a:blip r:embed="rId1"/>
          <a:srcRect l="13272" t="26595" r="14170" b="24592"/>
          <a:stretch/>
        </p:blipFill>
        <p:spPr>
          <a:xfrm>
            <a:off x="7543800" y="1362240"/>
            <a:ext cx="4141440" cy="4179600"/>
          </a:xfrm>
          <a:prstGeom prst="rect">
            <a:avLst/>
          </a:prstGeom>
          <a:ln w="0">
            <a:noFill/>
          </a:ln>
        </p:spPr>
      </p:pic>
      <p:sp>
        <p:nvSpPr>
          <p:cNvPr id="104" name="Прямоугольник 6"/>
          <p:cNvSpPr/>
          <p:nvPr/>
        </p:nvSpPr>
        <p:spPr>
          <a:xfrm rot="18475200">
            <a:off x="-2220120" y="4130640"/>
            <a:ext cx="4012920" cy="7075800"/>
          </a:xfrm>
          <a:prstGeom prst="rect">
            <a:avLst/>
          </a:prstGeom>
          <a:solidFill>
            <a:srgbClr val="7030a0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5" name="Прямоугольник 9"/>
          <p:cNvSpPr/>
          <p:nvPr/>
        </p:nvSpPr>
        <p:spPr>
          <a:xfrm rot="18475200">
            <a:off x="10184760" y="-4878360"/>
            <a:ext cx="4012920" cy="7075800"/>
          </a:xfrm>
          <a:prstGeom prst="rect">
            <a:avLst/>
          </a:prstGeom>
          <a:solidFill>
            <a:srgbClr val="7030a0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6" name="TextBox 11"/>
          <p:cNvSpPr/>
          <p:nvPr/>
        </p:nvSpPr>
        <p:spPr>
          <a:xfrm>
            <a:off x="1803600" y="0"/>
            <a:ext cx="858456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ru-RU" sz="4000" spc="-1" strike="noStrike">
                <a:solidFill>
                  <a:srgbClr val="7030a0"/>
                </a:solidFill>
                <a:latin typeface="Montserrat Ace"/>
                <a:ea typeface="DejaVu Sans"/>
              </a:rPr>
              <a:t>Анализ предметной области</a:t>
            </a:r>
            <a:endParaRPr b="0" lang="ru-RU" sz="4000" spc="-1" strike="noStrike">
              <a:latin typeface="Arial"/>
            </a:endParaRPr>
          </a:p>
        </p:txBody>
      </p:sp>
      <p:sp>
        <p:nvSpPr>
          <p:cNvPr id="107" name="TextBox 13"/>
          <p:cNvSpPr/>
          <p:nvPr/>
        </p:nvSpPr>
        <p:spPr>
          <a:xfrm>
            <a:off x="1062360" y="1200960"/>
            <a:ext cx="5204520" cy="447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>
              <a:lnSpc>
                <a:spcPct val="150000"/>
              </a:lnSpc>
              <a:spcAft>
                <a:spcPts val="799"/>
              </a:spcAft>
              <a:buNone/>
              <a:tabLst>
                <a:tab algn="l" pos="0"/>
              </a:tabLst>
            </a:pPr>
            <a:r>
              <a:rPr b="1" lang="ru-RU" sz="2000" spc="-1" strike="noStrike">
                <a:solidFill>
                  <a:srgbClr val="7030a0"/>
                </a:solidFill>
                <a:latin typeface="Montserrat Ace"/>
                <a:ea typeface="Times New Roman"/>
              </a:rPr>
              <a:t>Перечень входных данных</a:t>
            </a:r>
            <a:endParaRPr b="0" lang="ru-RU" sz="2000" spc="-1" strike="noStrike">
              <a:latin typeface="Arial"/>
            </a:endParaRPr>
          </a:p>
          <a:p>
            <a:pPr marL="343080" indent="-343080" algn="just">
              <a:lnSpc>
                <a:spcPct val="150000"/>
              </a:lnSpc>
              <a:buClr>
                <a:srgbClr val="000000"/>
              </a:buClr>
              <a:buFont typeface="Calibri Light"/>
              <a:buAutoNum type="arabicPeriod"/>
              <a:tabLst>
                <a:tab algn="l" pos="0"/>
              </a:tabLst>
            </a:pPr>
            <a:r>
              <a:rPr b="0" lang="ru-RU" sz="1200" spc="-1" strike="noStrike">
                <a:solidFill>
                  <a:srgbClr val="000000"/>
                </a:solidFill>
                <a:latin typeface="Montserrat Ace"/>
                <a:ea typeface="Calibri"/>
              </a:rPr>
              <a:t>Список должностей</a:t>
            </a:r>
            <a:endParaRPr b="0" lang="ru-RU" sz="1200" spc="-1" strike="noStrike">
              <a:latin typeface="Arial"/>
            </a:endParaRPr>
          </a:p>
          <a:p>
            <a:pPr marL="343080" indent="-343080" algn="just">
              <a:lnSpc>
                <a:spcPct val="150000"/>
              </a:lnSpc>
              <a:buClr>
                <a:srgbClr val="000000"/>
              </a:buClr>
              <a:buFont typeface="Calibri Light"/>
              <a:buAutoNum type="arabicPeriod"/>
              <a:tabLst>
                <a:tab algn="l" pos="0"/>
              </a:tabLst>
            </a:pPr>
            <a:r>
              <a:rPr b="0" lang="ru-RU" sz="1200" spc="-1" strike="noStrike">
                <a:solidFill>
                  <a:srgbClr val="000000"/>
                </a:solidFill>
                <a:latin typeface="Montserrat Ace"/>
                <a:ea typeface="Calibri"/>
              </a:rPr>
              <a:t>Список сотрудников</a:t>
            </a:r>
            <a:endParaRPr b="0" lang="ru-RU" sz="1200" spc="-1" strike="noStrike">
              <a:latin typeface="Arial"/>
            </a:endParaRPr>
          </a:p>
          <a:p>
            <a:pPr lvl="1" marL="800280" indent="-343080" algn="just">
              <a:lnSpc>
                <a:spcPct val="150000"/>
              </a:lnSpc>
              <a:buClr>
                <a:srgbClr val="000000"/>
              </a:buClr>
              <a:buFont typeface="Symbol"/>
              <a:buChar char=""/>
              <a:tabLst>
                <a:tab algn="l" pos="0"/>
              </a:tabLst>
            </a:pPr>
            <a:r>
              <a:rPr b="0" lang="ru-RU" sz="1200" spc="-1" strike="noStrike">
                <a:solidFill>
                  <a:srgbClr val="000000"/>
                </a:solidFill>
                <a:latin typeface="Montserrat Ace"/>
                <a:ea typeface="Calibri"/>
              </a:rPr>
              <a:t>ФИО</a:t>
            </a:r>
            <a:endParaRPr b="0" lang="ru-RU" sz="1200" spc="-1" strike="noStrike">
              <a:latin typeface="Arial"/>
            </a:endParaRPr>
          </a:p>
          <a:p>
            <a:pPr lvl="1" marL="800280" indent="-343080" algn="just">
              <a:lnSpc>
                <a:spcPct val="150000"/>
              </a:lnSpc>
              <a:buClr>
                <a:srgbClr val="000000"/>
              </a:buClr>
              <a:buFont typeface="Symbol"/>
              <a:buChar char=""/>
              <a:tabLst>
                <a:tab algn="l" pos="0"/>
              </a:tabLst>
            </a:pPr>
            <a:r>
              <a:rPr b="0" lang="ru-RU" sz="1200" spc="-1" strike="noStrike">
                <a:solidFill>
                  <a:srgbClr val="000000"/>
                </a:solidFill>
                <a:latin typeface="Montserrat Ace"/>
                <a:ea typeface="Calibri"/>
              </a:rPr>
              <a:t>Должность</a:t>
            </a:r>
            <a:endParaRPr b="0" lang="ru-RU" sz="1200" spc="-1" strike="noStrike">
              <a:latin typeface="Arial"/>
            </a:endParaRPr>
          </a:p>
          <a:p>
            <a:pPr marL="457200" indent="450360" algn="just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ru-RU" sz="1200" spc="-1" strike="noStrike">
                <a:solidFill>
                  <a:srgbClr val="000000"/>
                </a:solidFill>
                <a:latin typeface="Montserrat Ace"/>
                <a:ea typeface="Calibri"/>
              </a:rPr>
              <a:t> </a:t>
            </a:r>
            <a:endParaRPr b="0" lang="ru-RU" sz="1200" spc="-1" strike="noStrike">
              <a:latin typeface="Arial"/>
            </a:endParaRPr>
          </a:p>
          <a:p>
            <a:pPr marL="343080" indent="-343080" algn="just">
              <a:lnSpc>
                <a:spcPct val="150000"/>
              </a:lnSpc>
              <a:buClr>
                <a:srgbClr val="000000"/>
              </a:buClr>
              <a:buFont typeface="Calibri Light"/>
              <a:buAutoNum type="arabicPeriod"/>
              <a:tabLst>
                <a:tab algn="l" pos="0"/>
              </a:tabLst>
            </a:pPr>
            <a:r>
              <a:rPr b="0" lang="ru-RU" sz="1200" spc="-1" strike="noStrike">
                <a:solidFill>
                  <a:srgbClr val="000000"/>
                </a:solidFill>
                <a:latin typeface="Montserrat Ace"/>
                <a:ea typeface="Calibri"/>
              </a:rPr>
              <a:t>Койки</a:t>
            </a:r>
            <a:endParaRPr b="0" lang="ru-RU" sz="1200" spc="-1" strike="noStrike">
              <a:latin typeface="Arial"/>
            </a:endParaRPr>
          </a:p>
          <a:p>
            <a:pPr lvl="1" marL="800280" indent="-343080" algn="just">
              <a:lnSpc>
                <a:spcPct val="150000"/>
              </a:lnSpc>
              <a:buClr>
                <a:srgbClr val="000000"/>
              </a:buClr>
              <a:buFont typeface="Symbol"/>
              <a:buChar char=""/>
              <a:tabLst>
                <a:tab algn="l" pos="0"/>
              </a:tabLst>
            </a:pPr>
            <a:r>
              <a:rPr b="0" lang="ru-RU" sz="1200" spc="-1" strike="noStrike">
                <a:solidFill>
                  <a:srgbClr val="000000"/>
                </a:solidFill>
                <a:latin typeface="Montserrat Ace"/>
                <a:ea typeface="Calibri"/>
              </a:rPr>
              <a:t>Номера, в которых койки находятся</a:t>
            </a:r>
            <a:endParaRPr b="0" lang="ru-RU" sz="1200" spc="-1" strike="noStrike">
              <a:latin typeface="Arial"/>
            </a:endParaRPr>
          </a:p>
          <a:p>
            <a:pPr lvl="1" marL="800280" indent="-343080" algn="just">
              <a:lnSpc>
                <a:spcPct val="150000"/>
              </a:lnSpc>
              <a:buClr>
                <a:srgbClr val="000000"/>
              </a:buClr>
              <a:buFont typeface="Symbol"/>
              <a:buChar char=""/>
              <a:tabLst>
                <a:tab algn="l" pos="0"/>
              </a:tabLst>
            </a:pPr>
            <a:r>
              <a:rPr b="0" lang="ru-RU" sz="1200" spc="-1" strike="noStrike">
                <a:solidFill>
                  <a:srgbClr val="000000"/>
                </a:solidFill>
                <a:latin typeface="Montserrat Ace"/>
                <a:ea typeface="Calibri"/>
              </a:rPr>
              <a:t>Статус коек</a:t>
            </a:r>
            <a:endParaRPr b="0" lang="ru-RU" sz="1200" spc="-1" strike="noStrike">
              <a:latin typeface="Arial"/>
            </a:endParaRPr>
          </a:p>
          <a:p>
            <a:pPr lvl="1" marL="800280" indent="-343080" algn="just">
              <a:lnSpc>
                <a:spcPct val="150000"/>
              </a:lnSpc>
              <a:buClr>
                <a:srgbClr val="000000"/>
              </a:buClr>
              <a:buFont typeface="Symbol"/>
              <a:buChar char=""/>
              <a:tabLst>
                <a:tab algn="l" pos="0"/>
              </a:tabLst>
            </a:pPr>
            <a:r>
              <a:rPr b="0" lang="ru-RU" sz="1200" spc="-1" strike="noStrike">
                <a:solidFill>
                  <a:srgbClr val="000000"/>
                </a:solidFill>
                <a:latin typeface="Montserrat Ace"/>
                <a:ea typeface="Calibri"/>
              </a:rPr>
              <a:t>Цена за ночь</a:t>
            </a:r>
            <a:endParaRPr b="0" lang="ru-RU" sz="1200" spc="-1" strike="noStrike">
              <a:latin typeface="Arial"/>
            </a:endParaRPr>
          </a:p>
          <a:p>
            <a:pPr marL="457200" indent="450360" algn="just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ru-RU" sz="1200" spc="-1" strike="noStrike">
                <a:solidFill>
                  <a:srgbClr val="000000"/>
                </a:solidFill>
                <a:latin typeface="Montserrat Ace"/>
                <a:ea typeface="Calibri"/>
              </a:rPr>
              <a:t> </a:t>
            </a:r>
            <a:endParaRPr b="0" lang="ru-RU" sz="1200" spc="-1" strike="noStrike">
              <a:latin typeface="Arial"/>
            </a:endParaRPr>
          </a:p>
          <a:p>
            <a:pPr marL="343080" indent="-343080" algn="just">
              <a:lnSpc>
                <a:spcPct val="150000"/>
              </a:lnSpc>
              <a:buClr>
                <a:srgbClr val="000000"/>
              </a:buClr>
              <a:buFont typeface="Calibri Light"/>
              <a:buAutoNum type="arabicPeriod"/>
              <a:tabLst>
                <a:tab algn="l" pos="0"/>
              </a:tabLst>
            </a:pPr>
            <a:r>
              <a:rPr b="0" lang="ru-RU" sz="1200" spc="-1" strike="noStrike">
                <a:solidFill>
                  <a:srgbClr val="000000"/>
                </a:solidFill>
                <a:latin typeface="Montserrat Ace"/>
                <a:ea typeface="Calibri"/>
              </a:rPr>
              <a:t>Постояльцы</a:t>
            </a:r>
            <a:endParaRPr b="0" lang="ru-RU" sz="1200" spc="-1" strike="noStrike">
              <a:latin typeface="Arial"/>
            </a:endParaRPr>
          </a:p>
          <a:p>
            <a:pPr lvl="1" marL="800280" indent="-343080" algn="just">
              <a:lnSpc>
                <a:spcPct val="150000"/>
              </a:lnSpc>
              <a:buClr>
                <a:srgbClr val="000000"/>
              </a:buClr>
              <a:buFont typeface="Symbol"/>
              <a:buChar char=""/>
              <a:tabLst>
                <a:tab algn="l" pos="0"/>
              </a:tabLst>
            </a:pPr>
            <a:r>
              <a:rPr b="0" lang="ru-RU" sz="1200" spc="-1" strike="noStrike">
                <a:solidFill>
                  <a:srgbClr val="000000"/>
                </a:solidFill>
                <a:latin typeface="Montserrat Ace"/>
                <a:ea typeface="Calibri"/>
              </a:rPr>
              <a:t>ФИО</a:t>
            </a:r>
            <a:endParaRPr b="0" lang="ru-RU" sz="1200" spc="-1" strike="noStrike">
              <a:latin typeface="Arial"/>
            </a:endParaRPr>
          </a:p>
          <a:p>
            <a:pPr lvl="1" marL="800280" indent="-343080" algn="just">
              <a:lnSpc>
                <a:spcPct val="150000"/>
              </a:lnSpc>
              <a:buClr>
                <a:srgbClr val="000000"/>
              </a:buClr>
              <a:buFont typeface="Symbol"/>
              <a:buChar char=""/>
              <a:tabLst>
                <a:tab algn="l" pos="0"/>
              </a:tabLst>
            </a:pPr>
            <a:r>
              <a:rPr b="0" lang="ru-RU" sz="1200" spc="-1" strike="noStrike">
                <a:solidFill>
                  <a:srgbClr val="000000"/>
                </a:solidFill>
                <a:latin typeface="Montserrat Ace"/>
                <a:ea typeface="Calibri"/>
              </a:rPr>
              <a:t>Контактные данные</a:t>
            </a:r>
            <a:endParaRPr b="0" lang="ru-RU" sz="1200" spc="-1" strike="noStrike">
              <a:latin typeface="Arial"/>
            </a:endParaRPr>
          </a:p>
          <a:p>
            <a:pPr lvl="1" marL="800280" indent="-343080" algn="just">
              <a:lnSpc>
                <a:spcPct val="150000"/>
              </a:lnSpc>
              <a:spcAft>
                <a:spcPts val="799"/>
              </a:spcAft>
              <a:buClr>
                <a:srgbClr val="000000"/>
              </a:buClr>
              <a:buFont typeface="Symbol"/>
              <a:buChar char=""/>
              <a:tabLst>
                <a:tab algn="l" pos="0"/>
              </a:tabLst>
            </a:pPr>
            <a:r>
              <a:rPr b="0" lang="ru-RU" sz="1200" spc="-1" strike="noStrike">
                <a:solidFill>
                  <a:srgbClr val="000000"/>
                </a:solidFill>
                <a:latin typeface="Montserrat Ace"/>
                <a:ea typeface="Calibri"/>
              </a:rPr>
              <a:t>Паспортные данные</a:t>
            </a:r>
            <a:endParaRPr b="0" lang="ru-RU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Picture 8" descr="Picture background"/>
          <p:cNvPicPr/>
          <p:nvPr/>
        </p:nvPicPr>
        <p:blipFill>
          <a:blip r:embed="rId1"/>
          <a:srcRect l="13272" t="26595" r="14170" b="24592"/>
          <a:stretch/>
        </p:blipFill>
        <p:spPr>
          <a:xfrm>
            <a:off x="7543800" y="1362240"/>
            <a:ext cx="4141440" cy="4179600"/>
          </a:xfrm>
          <a:prstGeom prst="rect">
            <a:avLst/>
          </a:prstGeom>
          <a:ln w="0">
            <a:noFill/>
          </a:ln>
        </p:spPr>
      </p:pic>
      <p:sp>
        <p:nvSpPr>
          <p:cNvPr id="109" name="Прямоугольник 6"/>
          <p:cNvSpPr/>
          <p:nvPr/>
        </p:nvSpPr>
        <p:spPr>
          <a:xfrm rot="18475200">
            <a:off x="-2220120" y="4130640"/>
            <a:ext cx="4012920" cy="7075800"/>
          </a:xfrm>
          <a:prstGeom prst="rect">
            <a:avLst/>
          </a:prstGeom>
          <a:solidFill>
            <a:srgbClr val="7030a0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10" name="Прямоугольник 9"/>
          <p:cNvSpPr/>
          <p:nvPr/>
        </p:nvSpPr>
        <p:spPr>
          <a:xfrm rot="18475200">
            <a:off x="10184760" y="-4878360"/>
            <a:ext cx="4012920" cy="7075800"/>
          </a:xfrm>
          <a:prstGeom prst="rect">
            <a:avLst/>
          </a:prstGeom>
          <a:solidFill>
            <a:srgbClr val="7030a0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11" name="TextBox 11"/>
          <p:cNvSpPr/>
          <p:nvPr/>
        </p:nvSpPr>
        <p:spPr>
          <a:xfrm>
            <a:off x="1803600" y="0"/>
            <a:ext cx="858456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ru-RU" sz="4000" spc="-1" strike="noStrike">
                <a:solidFill>
                  <a:srgbClr val="7030a0"/>
                </a:solidFill>
                <a:latin typeface="Montserrat Ace"/>
                <a:ea typeface="DejaVu Sans"/>
              </a:rPr>
              <a:t>Анализ предметной области</a:t>
            </a:r>
            <a:endParaRPr b="0" lang="ru-RU" sz="4000" spc="-1" strike="noStrike">
              <a:latin typeface="Arial"/>
            </a:endParaRPr>
          </a:p>
        </p:txBody>
      </p:sp>
      <p:sp>
        <p:nvSpPr>
          <p:cNvPr id="112" name="TextBox 13"/>
          <p:cNvSpPr/>
          <p:nvPr/>
        </p:nvSpPr>
        <p:spPr>
          <a:xfrm>
            <a:off x="1126440" y="1454760"/>
            <a:ext cx="5204520" cy="393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>
              <a:lnSpc>
                <a:spcPct val="150000"/>
              </a:lnSpc>
              <a:spcAft>
                <a:spcPts val="799"/>
              </a:spcAft>
              <a:buNone/>
              <a:tabLst>
                <a:tab algn="l" pos="0"/>
              </a:tabLst>
            </a:pPr>
            <a:r>
              <a:rPr b="1" lang="ru-RU" sz="2000" spc="-1" strike="noStrike">
                <a:solidFill>
                  <a:srgbClr val="7030a0"/>
                </a:solidFill>
                <a:latin typeface="Montserrat Ace"/>
                <a:ea typeface="Times New Roman"/>
              </a:rPr>
              <a:t>Перечень выходных данных</a:t>
            </a:r>
            <a:endParaRPr b="0" lang="ru-RU" sz="2000" spc="-1" strike="noStrike">
              <a:latin typeface="Arial"/>
            </a:endParaRPr>
          </a:p>
          <a:p>
            <a:pPr marL="343080" indent="-343080" algn="just">
              <a:lnSpc>
                <a:spcPct val="150000"/>
              </a:lnSpc>
              <a:buClr>
                <a:srgbClr val="000000"/>
              </a:buClr>
              <a:buFont typeface="Calibri Light"/>
              <a:buAutoNum type="arabicPeriod"/>
              <a:tabLst>
                <a:tab algn="l" pos="0"/>
              </a:tabLst>
            </a:pPr>
            <a:r>
              <a:rPr b="0" lang="ru-RU" sz="1200" spc="-1" strike="noStrike">
                <a:solidFill>
                  <a:srgbClr val="000000"/>
                </a:solidFill>
                <a:latin typeface="Montserrat Ace"/>
                <a:ea typeface="Calibri"/>
              </a:rPr>
              <a:t>История бронирований</a:t>
            </a:r>
            <a:endParaRPr b="0" lang="ru-RU" sz="1200" spc="-1" strike="noStrike">
              <a:latin typeface="Arial"/>
            </a:endParaRPr>
          </a:p>
          <a:p>
            <a:pPr lvl="1" marL="800280" indent="-343080" algn="just">
              <a:lnSpc>
                <a:spcPct val="150000"/>
              </a:lnSpc>
              <a:buClr>
                <a:srgbClr val="000000"/>
              </a:buClr>
              <a:buFont typeface="Symbol"/>
              <a:buChar char=""/>
              <a:tabLst>
                <a:tab algn="l" pos="0"/>
              </a:tabLst>
            </a:pPr>
            <a:r>
              <a:rPr b="0" lang="ru-RU" sz="1200" spc="-1" strike="noStrike">
                <a:solidFill>
                  <a:srgbClr val="000000"/>
                </a:solidFill>
                <a:latin typeface="Montserrat Ace"/>
                <a:ea typeface="Calibri"/>
              </a:rPr>
              <a:t>Дата заезда</a:t>
            </a:r>
            <a:endParaRPr b="0" lang="ru-RU" sz="1200" spc="-1" strike="noStrike">
              <a:latin typeface="Arial"/>
            </a:endParaRPr>
          </a:p>
          <a:p>
            <a:pPr lvl="1" marL="800280" indent="-343080" algn="just">
              <a:lnSpc>
                <a:spcPct val="150000"/>
              </a:lnSpc>
              <a:buClr>
                <a:srgbClr val="000000"/>
              </a:buClr>
              <a:buFont typeface="Symbol"/>
              <a:buChar char=""/>
              <a:tabLst>
                <a:tab algn="l" pos="0"/>
              </a:tabLst>
            </a:pPr>
            <a:r>
              <a:rPr b="0" lang="ru-RU" sz="1200" spc="-1" strike="noStrike">
                <a:solidFill>
                  <a:srgbClr val="000000"/>
                </a:solidFill>
                <a:latin typeface="Montserrat Ace"/>
                <a:ea typeface="Calibri"/>
              </a:rPr>
              <a:t>Дата выселения</a:t>
            </a:r>
            <a:endParaRPr b="0" lang="ru-RU" sz="1200" spc="-1" strike="noStrike">
              <a:latin typeface="Arial"/>
            </a:endParaRPr>
          </a:p>
          <a:p>
            <a:pPr lvl="1" marL="800280" indent="-343080" algn="just">
              <a:lnSpc>
                <a:spcPct val="150000"/>
              </a:lnSpc>
              <a:buClr>
                <a:srgbClr val="000000"/>
              </a:buClr>
              <a:buFont typeface="Symbol"/>
              <a:buChar char=""/>
              <a:tabLst>
                <a:tab algn="l" pos="0"/>
              </a:tabLst>
            </a:pPr>
            <a:r>
              <a:rPr b="0" lang="ru-RU" sz="1200" spc="-1" strike="noStrike">
                <a:solidFill>
                  <a:srgbClr val="000000"/>
                </a:solidFill>
                <a:latin typeface="Montserrat Ace"/>
                <a:ea typeface="Calibri"/>
              </a:rPr>
              <a:t>Постоялец</a:t>
            </a:r>
            <a:endParaRPr b="0" lang="ru-RU" sz="1200" spc="-1" strike="noStrike">
              <a:latin typeface="Arial"/>
            </a:endParaRPr>
          </a:p>
          <a:p>
            <a:pPr lvl="1" marL="800280" indent="-343080" algn="just">
              <a:lnSpc>
                <a:spcPct val="150000"/>
              </a:lnSpc>
              <a:buClr>
                <a:srgbClr val="000000"/>
              </a:buClr>
              <a:buFont typeface="Symbol"/>
              <a:buChar char=""/>
              <a:tabLst>
                <a:tab algn="l" pos="0"/>
              </a:tabLst>
            </a:pPr>
            <a:r>
              <a:rPr b="0" lang="ru-RU" sz="1200" spc="-1" strike="noStrike">
                <a:solidFill>
                  <a:srgbClr val="000000"/>
                </a:solidFill>
                <a:latin typeface="Montserrat Ace"/>
                <a:ea typeface="Calibri"/>
              </a:rPr>
              <a:t>Койка</a:t>
            </a:r>
            <a:endParaRPr b="0" lang="ru-RU" sz="1200" spc="-1" strike="noStrike">
              <a:latin typeface="Arial"/>
            </a:endParaRPr>
          </a:p>
          <a:p>
            <a:pPr lvl="1" marL="800280" indent="-343080" algn="just">
              <a:lnSpc>
                <a:spcPct val="150000"/>
              </a:lnSpc>
              <a:buClr>
                <a:srgbClr val="000000"/>
              </a:buClr>
              <a:buFont typeface="Symbol"/>
              <a:buChar char=""/>
              <a:tabLst>
                <a:tab algn="l" pos="0"/>
              </a:tabLst>
            </a:pPr>
            <a:r>
              <a:rPr b="0" lang="ru-RU" sz="1200" spc="-1" strike="noStrike">
                <a:solidFill>
                  <a:srgbClr val="000000"/>
                </a:solidFill>
                <a:latin typeface="Montserrat Ace"/>
                <a:ea typeface="Calibri"/>
              </a:rPr>
              <a:t>Количество ночей</a:t>
            </a:r>
            <a:endParaRPr b="0" lang="ru-RU" sz="1200" spc="-1" strike="noStrike">
              <a:latin typeface="Arial"/>
            </a:endParaRPr>
          </a:p>
          <a:p>
            <a:pPr lvl="1" marL="800280" indent="-343080" algn="just">
              <a:lnSpc>
                <a:spcPct val="150000"/>
              </a:lnSpc>
              <a:buClr>
                <a:srgbClr val="000000"/>
              </a:buClr>
              <a:buFont typeface="Symbol"/>
              <a:buChar char=""/>
              <a:tabLst>
                <a:tab algn="l" pos="0"/>
              </a:tabLst>
            </a:pPr>
            <a:r>
              <a:rPr b="0" lang="ru-RU" sz="1200" spc="-1" strike="noStrike">
                <a:solidFill>
                  <a:srgbClr val="000000"/>
                </a:solidFill>
                <a:latin typeface="Montserrat Ace"/>
                <a:ea typeface="Calibri"/>
              </a:rPr>
              <a:t>Итоговый ценник</a:t>
            </a:r>
            <a:endParaRPr b="0" lang="ru-RU" sz="1200" spc="-1" strike="noStrike">
              <a:latin typeface="Arial"/>
            </a:endParaRPr>
          </a:p>
          <a:p>
            <a:pPr marL="457200" indent="450360" algn="just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ru-RU" sz="1200" spc="-1" strike="noStrike">
                <a:solidFill>
                  <a:srgbClr val="000000"/>
                </a:solidFill>
                <a:latin typeface="Montserrat Ace"/>
                <a:ea typeface="Calibri"/>
              </a:rPr>
              <a:t> </a:t>
            </a:r>
            <a:endParaRPr b="0" lang="ru-RU" sz="1200" spc="-1" strike="noStrike">
              <a:latin typeface="Arial"/>
            </a:endParaRPr>
          </a:p>
          <a:p>
            <a:pPr marL="343080" indent="-343080" algn="just">
              <a:lnSpc>
                <a:spcPct val="150000"/>
              </a:lnSpc>
              <a:buClr>
                <a:srgbClr val="000000"/>
              </a:buClr>
              <a:buFont typeface="Calibri Light"/>
              <a:buAutoNum type="arabicPeriod"/>
              <a:tabLst>
                <a:tab algn="l" pos="0"/>
              </a:tabLst>
            </a:pPr>
            <a:r>
              <a:rPr b="0" lang="ru-RU" sz="1200" spc="-1" strike="noStrike">
                <a:solidFill>
                  <a:srgbClr val="000000"/>
                </a:solidFill>
                <a:latin typeface="Montserrat Ace"/>
                <a:ea typeface="Calibri"/>
              </a:rPr>
              <a:t>Расписание уборок номеров</a:t>
            </a:r>
            <a:endParaRPr b="0" lang="ru-RU" sz="1200" spc="-1" strike="noStrike">
              <a:latin typeface="Arial"/>
            </a:endParaRPr>
          </a:p>
          <a:p>
            <a:pPr lvl="1" marL="800280" indent="-343080" algn="just">
              <a:lnSpc>
                <a:spcPct val="150000"/>
              </a:lnSpc>
              <a:buClr>
                <a:srgbClr val="000000"/>
              </a:buClr>
              <a:buFont typeface="Symbol"/>
              <a:buChar char=""/>
              <a:tabLst>
                <a:tab algn="l" pos="0"/>
              </a:tabLst>
            </a:pPr>
            <a:r>
              <a:rPr b="0" lang="ru-RU" sz="1200" spc="-1" strike="noStrike">
                <a:solidFill>
                  <a:srgbClr val="000000"/>
                </a:solidFill>
                <a:latin typeface="Montserrat Ace"/>
                <a:ea typeface="Calibri"/>
              </a:rPr>
              <a:t>Дата</a:t>
            </a:r>
            <a:endParaRPr b="0" lang="ru-RU" sz="1200" spc="-1" strike="noStrike">
              <a:latin typeface="Arial"/>
            </a:endParaRPr>
          </a:p>
          <a:p>
            <a:pPr lvl="1" marL="800280" indent="-343080" algn="just">
              <a:lnSpc>
                <a:spcPct val="150000"/>
              </a:lnSpc>
              <a:buClr>
                <a:srgbClr val="000000"/>
              </a:buClr>
              <a:buFont typeface="Symbol"/>
              <a:buChar char=""/>
              <a:tabLst>
                <a:tab algn="l" pos="0"/>
              </a:tabLst>
            </a:pPr>
            <a:r>
              <a:rPr b="0" lang="ru-RU" sz="1200" spc="-1" strike="noStrike">
                <a:solidFill>
                  <a:srgbClr val="000000"/>
                </a:solidFill>
                <a:latin typeface="Montserrat Ace"/>
                <a:ea typeface="Calibri"/>
              </a:rPr>
              <a:t>Номер уборки</a:t>
            </a:r>
            <a:endParaRPr b="0" lang="ru-RU" sz="1200" spc="-1" strike="noStrike">
              <a:latin typeface="Arial"/>
            </a:endParaRPr>
          </a:p>
          <a:p>
            <a:pPr lvl="1" marL="800280" indent="-343080" algn="just">
              <a:lnSpc>
                <a:spcPct val="150000"/>
              </a:lnSpc>
              <a:spcAft>
                <a:spcPts val="799"/>
              </a:spcAft>
              <a:buClr>
                <a:srgbClr val="000000"/>
              </a:buClr>
              <a:buFont typeface="Symbol"/>
              <a:buChar char=""/>
              <a:tabLst>
                <a:tab algn="l" pos="0"/>
              </a:tabLst>
            </a:pPr>
            <a:r>
              <a:rPr b="0" lang="ru-RU" sz="1200" spc="-1" strike="noStrike">
                <a:solidFill>
                  <a:srgbClr val="000000"/>
                </a:solidFill>
                <a:latin typeface="Montserrat Ace"/>
                <a:ea typeface="Calibri"/>
              </a:rPr>
              <a:t>Горничная</a:t>
            </a:r>
            <a:endParaRPr b="0" lang="ru-RU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Рисунок 8" descr=""/>
          <p:cNvPicPr/>
          <p:nvPr/>
        </p:nvPicPr>
        <p:blipFill>
          <a:blip r:embed="rId1"/>
          <a:stretch/>
        </p:blipFill>
        <p:spPr>
          <a:xfrm>
            <a:off x="5559480" y="1502280"/>
            <a:ext cx="6631560" cy="3853080"/>
          </a:xfrm>
          <a:prstGeom prst="rect">
            <a:avLst/>
          </a:prstGeom>
          <a:ln w="0">
            <a:noFill/>
          </a:ln>
        </p:spPr>
      </p:pic>
      <p:sp>
        <p:nvSpPr>
          <p:cNvPr id="114" name="Прямоугольник 6"/>
          <p:cNvSpPr/>
          <p:nvPr/>
        </p:nvSpPr>
        <p:spPr>
          <a:xfrm rot="18475200">
            <a:off x="-2220120" y="4130640"/>
            <a:ext cx="4012920" cy="7075800"/>
          </a:xfrm>
          <a:prstGeom prst="rect">
            <a:avLst/>
          </a:prstGeom>
          <a:solidFill>
            <a:srgbClr val="7030a0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15" name="Прямоугольник 9"/>
          <p:cNvSpPr/>
          <p:nvPr/>
        </p:nvSpPr>
        <p:spPr>
          <a:xfrm rot="18475200">
            <a:off x="10184760" y="-4878360"/>
            <a:ext cx="4012920" cy="7075800"/>
          </a:xfrm>
          <a:prstGeom prst="rect">
            <a:avLst/>
          </a:prstGeom>
          <a:solidFill>
            <a:srgbClr val="7030a0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16" name="TextBox 11"/>
          <p:cNvSpPr/>
          <p:nvPr/>
        </p:nvSpPr>
        <p:spPr>
          <a:xfrm>
            <a:off x="1533240" y="0"/>
            <a:ext cx="912564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ru-RU" sz="4000" spc="-1" strike="noStrike">
                <a:solidFill>
                  <a:srgbClr val="7030a0"/>
                </a:solidFill>
                <a:latin typeface="Montserrat Ace"/>
                <a:ea typeface="DejaVu Sans"/>
              </a:rPr>
              <a:t>Проектирование базы данных</a:t>
            </a:r>
            <a:endParaRPr b="0" lang="ru-RU" sz="4000" spc="-1" strike="noStrike">
              <a:latin typeface="Arial"/>
            </a:endParaRPr>
          </a:p>
        </p:txBody>
      </p:sp>
      <p:sp>
        <p:nvSpPr>
          <p:cNvPr id="117" name="TextBox 7"/>
          <p:cNvSpPr/>
          <p:nvPr/>
        </p:nvSpPr>
        <p:spPr>
          <a:xfrm>
            <a:off x="219600" y="2840040"/>
            <a:ext cx="4745160" cy="119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>
              <a:lnSpc>
                <a:spcPct val="150000"/>
              </a:lnSpc>
              <a:spcAft>
                <a:spcPts val="799"/>
              </a:spcAft>
              <a:buNone/>
              <a:tabLst>
                <a:tab algn="l" pos="0"/>
              </a:tabLst>
            </a:pPr>
            <a:r>
              <a:rPr b="1" lang="ru-RU" sz="2000" spc="-1" strike="noStrike">
                <a:solidFill>
                  <a:srgbClr val="7030a0"/>
                </a:solidFill>
                <a:latin typeface="Montserrat Ace"/>
                <a:ea typeface="Times New Roman"/>
              </a:rPr>
              <a:t>Концептуальная модель</a:t>
            </a:r>
            <a:endParaRPr b="0" lang="ru-RU" sz="2000" spc="-1" strike="noStrike">
              <a:latin typeface="Arial"/>
            </a:endParaRPr>
          </a:p>
          <a:p>
            <a:pPr algn="just">
              <a:lnSpc>
                <a:spcPct val="150000"/>
              </a:lnSpc>
              <a:spcAft>
                <a:spcPts val="799"/>
              </a:spcAft>
              <a:buNone/>
              <a:tabLst>
                <a:tab algn="l" pos="0"/>
              </a:tabLst>
            </a:pPr>
            <a:r>
              <a:rPr b="0" lang="ru-RU" sz="1200" spc="-1" strike="noStrike">
                <a:solidFill>
                  <a:srgbClr val="000000"/>
                </a:solidFill>
                <a:latin typeface="Montserrat Ace"/>
                <a:ea typeface="Calibri"/>
              </a:rPr>
              <a:t>Концептуальная модель – схема, отображающая основные компоненты системы и связи между ними.</a:t>
            </a:r>
            <a:endParaRPr b="0" lang="ru-RU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Рисунок 10" descr=""/>
          <p:cNvPicPr/>
          <p:nvPr/>
        </p:nvPicPr>
        <p:blipFill>
          <a:blip r:embed="rId1"/>
          <a:stretch/>
        </p:blipFill>
        <p:spPr>
          <a:xfrm>
            <a:off x="5775120" y="845640"/>
            <a:ext cx="6172560" cy="5166000"/>
          </a:xfrm>
          <a:prstGeom prst="rect">
            <a:avLst/>
          </a:prstGeom>
          <a:ln w="0">
            <a:noFill/>
          </a:ln>
        </p:spPr>
      </p:pic>
      <p:sp>
        <p:nvSpPr>
          <p:cNvPr id="119" name="Прямоугольник 6"/>
          <p:cNvSpPr/>
          <p:nvPr/>
        </p:nvSpPr>
        <p:spPr>
          <a:xfrm rot="18475200">
            <a:off x="-2220120" y="4130640"/>
            <a:ext cx="4012920" cy="7075800"/>
          </a:xfrm>
          <a:prstGeom prst="rect">
            <a:avLst/>
          </a:prstGeom>
          <a:solidFill>
            <a:srgbClr val="7030a0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20" name="Прямоугольник 9"/>
          <p:cNvSpPr/>
          <p:nvPr/>
        </p:nvSpPr>
        <p:spPr>
          <a:xfrm rot="18475200">
            <a:off x="10184760" y="-4878360"/>
            <a:ext cx="4012920" cy="7075800"/>
          </a:xfrm>
          <a:prstGeom prst="rect">
            <a:avLst/>
          </a:prstGeom>
          <a:solidFill>
            <a:srgbClr val="7030a0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21" name="TextBox 11"/>
          <p:cNvSpPr/>
          <p:nvPr/>
        </p:nvSpPr>
        <p:spPr>
          <a:xfrm>
            <a:off x="1533240" y="0"/>
            <a:ext cx="912564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ru-RU" sz="4000" spc="-1" strike="noStrike">
                <a:solidFill>
                  <a:srgbClr val="7030a0"/>
                </a:solidFill>
                <a:latin typeface="Montserrat Ace"/>
                <a:ea typeface="DejaVu Sans"/>
              </a:rPr>
              <a:t>Проектирование базы данных</a:t>
            </a:r>
            <a:endParaRPr b="0" lang="ru-RU" sz="4000" spc="-1" strike="noStrike">
              <a:latin typeface="Arial"/>
            </a:endParaRPr>
          </a:p>
        </p:txBody>
      </p:sp>
      <p:sp>
        <p:nvSpPr>
          <p:cNvPr id="122" name="TextBox 7"/>
          <p:cNvSpPr/>
          <p:nvPr/>
        </p:nvSpPr>
        <p:spPr>
          <a:xfrm>
            <a:off x="0" y="2622960"/>
            <a:ext cx="5833080" cy="19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>
              <a:lnSpc>
                <a:spcPct val="150000"/>
              </a:lnSpc>
              <a:spcAft>
                <a:spcPts val="799"/>
              </a:spcAft>
              <a:buNone/>
            </a:pPr>
            <a:r>
              <a:rPr b="1" lang="ru-RU" sz="2000" spc="-1" strike="noStrike">
                <a:solidFill>
                  <a:srgbClr val="7030a0"/>
                </a:solidFill>
                <a:latin typeface="Montserrat Ace"/>
                <a:ea typeface="Times New Roman"/>
              </a:rPr>
              <a:t>    </a:t>
            </a:r>
            <a:r>
              <a:rPr b="1" lang="ru-RU" sz="2000" spc="-1" strike="noStrike">
                <a:solidFill>
                  <a:srgbClr val="7030a0"/>
                </a:solidFill>
                <a:latin typeface="Montserrat Ace"/>
                <a:ea typeface="Times New Roman"/>
              </a:rPr>
              <a:t>Логическая структура</a:t>
            </a:r>
            <a:endParaRPr b="0" lang="ru-RU" sz="2000" spc="-1" strike="noStrike">
              <a:latin typeface="Arial"/>
            </a:endParaRPr>
          </a:p>
          <a:p>
            <a:pPr algn="just">
              <a:lnSpc>
                <a:spcPct val="150000"/>
              </a:lnSpc>
              <a:spcAft>
                <a:spcPts val="799"/>
              </a:spcAft>
              <a:buNone/>
            </a:pPr>
            <a:r>
              <a:rPr b="0" lang="ru-RU" sz="1200" spc="-1" strike="noStrike">
                <a:solidFill>
                  <a:srgbClr val="000000"/>
                </a:solidFill>
                <a:latin typeface="Montserrat Ace"/>
                <a:ea typeface="Times New Roman"/>
              </a:rPr>
              <a:t>База данных имеет 7 таблиц.</a:t>
            </a:r>
            <a:endParaRPr b="0" lang="ru-RU" sz="1200" spc="-1" strike="noStrike">
              <a:latin typeface="Arial"/>
            </a:endParaRPr>
          </a:p>
          <a:p>
            <a:pPr algn="just">
              <a:lnSpc>
                <a:spcPct val="150000"/>
              </a:lnSpc>
              <a:spcAft>
                <a:spcPts val="799"/>
              </a:spcAft>
              <a:buNone/>
            </a:pPr>
            <a:endParaRPr b="0" lang="ru-RU" sz="1200" spc="-1" strike="noStrike">
              <a:latin typeface="Arial"/>
            </a:endParaRPr>
          </a:p>
          <a:p>
            <a:pPr algn="just">
              <a:lnSpc>
                <a:spcPct val="150000"/>
              </a:lnSpc>
              <a:spcAft>
                <a:spcPts val="799"/>
              </a:spcAft>
              <a:buNone/>
            </a:pPr>
            <a:r>
              <a:rPr b="0" lang="ru-RU" sz="1200" spc="69" strike="noStrike">
                <a:solidFill>
                  <a:srgbClr val="000000"/>
                </a:solidFill>
                <a:latin typeface="Montserrat Ace"/>
                <a:ea typeface="Times New Roman"/>
              </a:rPr>
              <a:t>На её основе база данных и была реализована в СУБД </a:t>
            </a:r>
            <a:r>
              <a:rPr b="0" lang="en-US" sz="1200" spc="69" strike="noStrike">
                <a:solidFill>
                  <a:srgbClr val="000000"/>
                </a:solidFill>
                <a:latin typeface="Montserrat Ace"/>
                <a:ea typeface="Times New Roman"/>
              </a:rPr>
              <a:t>PostgreSQL</a:t>
            </a:r>
            <a:r>
              <a:rPr b="0" lang="ru-RU" sz="1200" spc="69" strike="noStrike">
                <a:solidFill>
                  <a:srgbClr val="000000"/>
                </a:solidFill>
                <a:latin typeface="Montserrat Ace"/>
                <a:ea typeface="Times New Roman"/>
              </a:rPr>
              <a:t>.</a:t>
            </a:r>
            <a:endParaRPr b="0" lang="ru-RU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Прямоугольник 6"/>
          <p:cNvSpPr/>
          <p:nvPr/>
        </p:nvSpPr>
        <p:spPr>
          <a:xfrm rot="18475200">
            <a:off x="-2220120" y="4130640"/>
            <a:ext cx="4012920" cy="7075800"/>
          </a:xfrm>
          <a:prstGeom prst="rect">
            <a:avLst/>
          </a:prstGeom>
          <a:solidFill>
            <a:srgbClr val="7030a0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24" name="Прямоугольник 9"/>
          <p:cNvSpPr/>
          <p:nvPr/>
        </p:nvSpPr>
        <p:spPr>
          <a:xfrm rot="18475200">
            <a:off x="10184760" y="-4878360"/>
            <a:ext cx="4012920" cy="7075800"/>
          </a:xfrm>
          <a:prstGeom prst="rect">
            <a:avLst/>
          </a:prstGeom>
          <a:solidFill>
            <a:srgbClr val="7030a0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25" name="TextBox 11"/>
          <p:cNvSpPr/>
          <p:nvPr/>
        </p:nvSpPr>
        <p:spPr>
          <a:xfrm>
            <a:off x="744480" y="0"/>
            <a:ext cx="10702080" cy="130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ru-RU" sz="4000" spc="-1" strike="noStrike">
                <a:solidFill>
                  <a:srgbClr val="7030a0"/>
                </a:solidFill>
                <a:latin typeface="Montserrat Ace"/>
                <a:ea typeface="DejaVu Sans"/>
              </a:rPr>
              <a:t>Разработка пользовательского интерфейса</a:t>
            </a:r>
            <a:endParaRPr b="0" lang="ru-RU" sz="4000" spc="-1" strike="noStrike">
              <a:latin typeface="Arial"/>
            </a:endParaRPr>
          </a:p>
        </p:txBody>
      </p:sp>
      <p:sp>
        <p:nvSpPr>
          <p:cNvPr id="126" name="TextBox 7"/>
          <p:cNvSpPr/>
          <p:nvPr/>
        </p:nvSpPr>
        <p:spPr>
          <a:xfrm>
            <a:off x="212400" y="2006280"/>
            <a:ext cx="6782040" cy="316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>
              <a:lnSpc>
                <a:spcPct val="150000"/>
              </a:lnSpc>
              <a:spcAft>
                <a:spcPts val="799"/>
              </a:spcAft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Montserrat Ace"/>
                <a:ea typeface="Calibri"/>
              </a:rPr>
              <a:t>Для пользовательского интерфейса для базы данных использовался язык программирования </a:t>
            </a:r>
            <a:r>
              <a:rPr b="1" lang="en-US" sz="1400" spc="-1" strike="noStrike">
                <a:solidFill>
                  <a:srgbClr val="000000"/>
                </a:solidFill>
                <a:latin typeface="Montserrat Ace"/>
                <a:ea typeface="Calibri"/>
              </a:rPr>
              <a:t>Python</a:t>
            </a:r>
            <a:r>
              <a:rPr b="0" lang="en-US" sz="1400" spc="-1" strike="noStrike">
                <a:solidFill>
                  <a:srgbClr val="000000"/>
                </a:solidFill>
                <a:latin typeface="Montserrat Ace"/>
                <a:ea typeface="Calibri"/>
              </a:rPr>
              <a:t> </a:t>
            </a:r>
            <a:r>
              <a:rPr b="0" lang="ru-RU" sz="1400" spc="-1" strike="noStrike">
                <a:solidFill>
                  <a:srgbClr val="000000"/>
                </a:solidFill>
                <a:latin typeface="Montserrat Ace"/>
                <a:ea typeface="Calibri"/>
              </a:rPr>
              <a:t>и редактор кода </a:t>
            </a:r>
            <a:r>
              <a:rPr b="1" lang="en-US" sz="1400" spc="-1" strike="noStrike">
                <a:solidFill>
                  <a:srgbClr val="000000"/>
                </a:solidFill>
                <a:latin typeface="Montserrat Ace"/>
                <a:ea typeface="Calibri"/>
              </a:rPr>
              <a:t>Visual Studio Code</a:t>
            </a:r>
            <a:r>
              <a:rPr b="0" lang="ru-RU" sz="1400" spc="-1" strike="noStrike">
                <a:solidFill>
                  <a:srgbClr val="000000"/>
                </a:solidFill>
                <a:latin typeface="Montserrat Ace"/>
                <a:ea typeface="Calibri"/>
              </a:rPr>
              <a:t>.</a:t>
            </a:r>
            <a:endParaRPr b="0" lang="ru-RU" sz="1400" spc="-1" strike="noStrike">
              <a:latin typeface="Arial"/>
            </a:endParaRPr>
          </a:p>
          <a:p>
            <a:pPr algn="just">
              <a:lnSpc>
                <a:spcPct val="150000"/>
              </a:lnSpc>
              <a:spcAft>
                <a:spcPts val="799"/>
              </a:spcAft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Montserrat Ace"/>
                <a:ea typeface="Calibri"/>
              </a:rPr>
              <a:t>Для реализации нужного результата использовались следующие библиотеки:</a:t>
            </a:r>
            <a:endParaRPr b="0" lang="ru-RU" sz="1400" spc="-1" strike="noStrike">
              <a:latin typeface="Arial"/>
            </a:endParaRPr>
          </a:p>
          <a:p>
            <a:pPr marL="343080" indent="-343080" algn="just">
              <a:lnSpc>
                <a:spcPct val="150000"/>
              </a:lnSpc>
              <a:buClr>
                <a:srgbClr val="000000"/>
              </a:buClr>
              <a:buFont typeface="Symbol"/>
              <a:buChar char=""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Montserrat Ace"/>
                <a:ea typeface="Calibri"/>
              </a:rPr>
              <a:t>tkinter</a:t>
            </a:r>
            <a:endParaRPr b="0" lang="ru-RU" sz="1400" spc="-1" strike="noStrike">
              <a:latin typeface="Arial"/>
            </a:endParaRPr>
          </a:p>
          <a:p>
            <a:pPr marL="343080" indent="-343080" algn="just">
              <a:lnSpc>
                <a:spcPct val="150000"/>
              </a:lnSpc>
              <a:buClr>
                <a:srgbClr val="000000"/>
              </a:buClr>
              <a:buFont typeface="Symbol"/>
              <a:buChar char=""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Montserrat Ace"/>
                <a:ea typeface="Calibri"/>
              </a:rPr>
              <a:t>psycopg2</a:t>
            </a:r>
            <a:endParaRPr b="0" lang="ru-RU" sz="1400" spc="-1" strike="noStrike">
              <a:latin typeface="Arial"/>
            </a:endParaRPr>
          </a:p>
          <a:p>
            <a:pPr marL="343080" indent="-343080" algn="just">
              <a:lnSpc>
                <a:spcPct val="150000"/>
              </a:lnSpc>
              <a:buClr>
                <a:srgbClr val="000000"/>
              </a:buClr>
              <a:buFont typeface="Symbol"/>
              <a:buChar char=""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Montserrat Ace"/>
                <a:ea typeface="Calibri"/>
              </a:rPr>
              <a:t>datetime</a:t>
            </a:r>
            <a:endParaRPr b="0" lang="ru-RU" sz="1400" spc="-1" strike="noStrike">
              <a:latin typeface="Arial"/>
            </a:endParaRPr>
          </a:p>
          <a:p>
            <a:pPr marL="343080" indent="-343080" algn="just">
              <a:lnSpc>
                <a:spcPct val="150000"/>
              </a:lnSpc>
              <a:spcAft>
                <a:spcPts val="799"/>
              </a:spcAft>
              <a:buClr>
                <a:srgbClr val="000000"/>
              </a:buClr>
              <a:buFont typeface="Symbol"/>
              <a:buChar char=""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Montserrat Ace"/>
                <a:ea typeface="Calibri"/>
              </a:rPr>
              <a:t>tkalendar</a:t>
            </a:r>
            <a:endParaRPr b="0" lang="ru-RU" sz="1400" spc="-1" strike="noStrike">
              <a:latin typeface="Arial"/>
            </a:endParaRPr>
          </a:p>
        </p:txBody>
      </p:sp>
      <p:pic>
        <p:nvPicPr>
          <p:cNvPr id="127" name="Picture 4" descr="Picture background"/>
          <p:cNvPicPr/>
          <p:nvPr/>
        </p:nvPicPr>
        <p:blipFill>
          <a:blip r:embed="rId1"/>
          <a:stretch/>
        </p:blipFill>
        <p:spPr>
          <a:xfrm>
            <a:off x="7922880" y="1101600"/>
            <a:ext cx="3113640" cy="3113640"/>
          </a:xfrm>
          <a:prstGeom prst="rect">
            <a:avLst/>
          </a:prstGeom>
          <a:ln w="0">
            <a:noFill/>
          </a:ln>
        </p:spPr>
      </p:pic>
      <p:pic>
        <p:nvPicPr>
          <p:cNvPr id="128" name="Picture 2" descr="Picture background"/>
          <p:cNvPicPr/>
          <p:nvPr/>
        </p:nvPicPr>
        <p:blipFill>
          <a:blip r:embed="rId2"/>
          <a:stretch/>
        </p:blipFill>
        <p:spPr>
          <a:xfrm>
            <a:off x="4738680" y="3122640"/>
            <a:ext cx="3428280" cy="3428280"/>
          </a:xfrm>
          <a:prstGeom prst="rect">
            <a:avLst/>
          </a:prstGeom>
          <a:ln w="0">
            <a:noFill/>
          </a:ln>
        </p:spPr>
      </p:pic>
      <p:pic>
        <p:nvPicPr>
          <p:cNvPr id="129" name="Picture 2" descr="Picture background"/>
          <p:cNvPicPr/>
          <p:nvPr/>
        </p:nvPicPr>
        <p:blipFill>
          <a:blip r:embed="rId3"/>
          <a:stretch/>
        </p:blipFill>
        <p:spPr>
          <a:xfrm>
            <a:off x="2342880" y="3735360"/>
            <a:ext cx="2935080" cy="2935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Прямоугольник 6"/>
          <p:cNvSpPr/>
          <p:nvPr/>
        </p:nvSpPr>
        <p:spPr>
          <a:xfrm rot="18475200">
            <a:off x="-2220120" y="4130640"/>
            <a:ext cx="4012920" cy="7075800"/>
          </a:xfrm>
          <a:prstGeom prst="rect">
            <a:avLst/>
          </a:prstGeom>
          <a:solidFill>
            <a:srgbClr val="7030a0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31" name="Прямоугольник 9"/>
          <p:cNvSpPr/>
          <p:nvPr/>
        </p:nvSpPr>
        <p:spPr>
          <a:xfrm rot="18475200">
            <a:off x="10184760" y="-4878360"/>
            <a:ext cx="4012920" cy="7075800"/>
          </a:xfrm>
          <a:prstGeom prst="rect">
            <a:avLst/>
          </a:prstGeom>
          <a:solidFill>
            <a:srgbClr val="7030a0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32" name="TextBox 11"/>
          <p:cNvSpPr/>
          <p:nvPr/>
        </p:nvSpPr>
        <p:spPr>
          <a:xfrm>
            <a:off x="744480" y="0"/>
            <a:ext cx="10702080" cy="130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ru-RU" sz="4000" spc="-1" strike="noStrike">
                <a:solidFill>
                  <a:srgbClr val="7030a0"/>
                </a:solidFill>
                <a:latin typeface="Montserrat Ace"/>
                <a:ea typeface="DejaVu Sans"/>
              </a:rPr>
              <a:t>Разработка пользовательского интерфейса</a:t>
            </a:r>
            <a:endParaRPr b="0" lang="ru-RU" sz="4000" spc="-1" strike="noStrike">
              <a:latin typeface="Arial"/>
            </a:endParaRPr>
          </a:p>
        </p:txBody>
      </p:sp>
      <p:pic>
        <p:nvPicPr>
          <p:cNvPr id="133" name="Рисунок 10" descr=""/>
          <p:cNvPicPr/>
          <p:nvPr/>
        </p:nvPicPr>
        <p:blipFill>
          <a:blip r:embed="rId1"/>
          <a:stretch/>
        </p:blipFill>
        <p:spPr>
          <a:xfrm>
            <a:off x="744480" y="1323360"/>
            <a:ext cx="3062520" cy="3994560"/>
          </a:xfrm>
          <a:prstGeom prst="rect">
            <a:avLst/>
          </a:prstGeom>
          <a:ln w="0">
            <a:noFill/>
          </a:ln>
        </p:spPr>
      </p:pic>
      <p:pic>
        <p:nvPicPr>
          <p:cNvPr id="134" name="Рисунок 12" descr=""/>
          <p:cNvPicPr/>
          <p:nvPr/>
        </p:nvPicPr>
        <p:blipFill>
          <a:blip r:embed="rId2"/>
          <a:stretch/>
        </p:blipFill>
        <p:spPr>
          <a:xfrm>
            <a:off x="5128560" y="1367280"/>
            <a:ext cx="6504480" cy="4122360"/>
          </a:xfrm>
          <a:prstGeom prst="rect">
            <a:avLst/>
          </a:prstGeom>
          <a:ln w="0">
            <a:noFill/>
          </a:ln>
        </p:spPr>
      </p:pic>
      <p:sp>
        <p:nvSpPr>
          <p:cNvPr id="135" name="TextBox 2"/>
          <p:cNvSpPr/>
          <p:nvPr/>
        </p:nvSpPr>
        <p:spPr>
          <a:xfrm>
            <a:off x="6387120" y="5490720"/>
            <a:ext cx="398808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Montserrat Ace"/>
                <a:ea typeface="DejaVu Sans"/>
              </a:rPr>
              <a:t>Главное окно. Вкладка «Бронирования»</a:t>
            </a:r>
            <a:endParaRPr b="0" lang="ru-RU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Прямоугольник 6"/>
          <p:cNvSpPr/>
          <p:nvPr/>
        </p:nvSpPr>
        <p:spPr>
          <a:xfrm rot="18475200">
            <a:off x="-2220120" y="4130640"/>
            <a:ext cx="4012920" cy="7075800"/>
          </a:xfrm>
          <a:prstGeom prst="rect">
            <a:avLst/>
          </a:prstGeom>
          <a:solidFill>
            <a:srgbClr val="7030a0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37" name="Прямоугольник 9"/>
          <p:cNvSpPr/>
          <p:nvPr/>
        </p:nvSpPr>
        <p:spPr>
          <a:xfrm rot="18475200">
            <a:off x="10184760" y="-4878360"/>
            <a:ext cx="4012920" cy="7075800"/>
          </a:xfrm>
          <a:prstGeom prst="rect">
            <a:avLst/>
          </a:prstGeom>
          <a:solidFill>
            <a:srgbClr val="7030a0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38" name="TextBox 11"/>
          <p:cNvSpPr/>
          <p:nvPr/>
        </p:nvSpPr>
        <p:spPr>
          <a:xfrm>
            <a:off x="744480" y="0"/>
            <a:ext cx="10702080" cy="130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ru-RU" sz="4000" spc="-1" strike="noStrike">
                <a:solidFill>
                  <a:srgbClr val="7030a0"/>
                </a:solidFill>
                <a:latin typeface="Montserrat Ace"/>
                <a:ea typeface="DejaVu Sans"/>
              </a:rPr>
              <a:t>Разработка пользовательского интерфейса</a:t>
            </a:r>
            <a:endParaRPr b="0" lang="ru-RU" sz="4000" spc="-1" strike="noStrike">
              <a:latin typeface="Arial"/>
            </a:endParaRPr>
          </a:p>
        </p:txBody>
      </p:sp>
      <p:pic>
        <p:nvPicPr>
          <p:cNvPr id="139" name="Рисунок 7" descr=""/>
          <p:cNvPicPr/>
          <p:nvPr/>
        </p:nvPicPr>
        <p:blipFill>
          <a:blip r:embed="rId1"/>
          <a:stretch/>
        </p:blipFill>
        <p:spPr>
          <a:xfrm>
            <a:off x="2567160" y="1323360"/>
            <a:ext cx="7057080" cy="4455000"/>
          </a:xfrm>
          <a:prstGeom prst="rect">
            <a:avLst/>
          </a:prstGeom>
          <a:ln w="0">
            <a:noFill/>
          </a:ln>
        </p:spPr>
      </p:pic>
      <p:sp>
        <p:nvSpPr>
          <p:cNvPr id="140" name="TextBox 13"/>
          <p:cNvSpPr/>
          <p:nvPr/>
        </p:nvSpPr>
        <p:spPr>
          <a:xfrm>
            <a:off x="975240" y="5779080"/>
            <a:ext cx="102405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Montserrat Ace"/>
                <a:ea typeface="DejaVu Sans"/>
              </a:rPr>
              <a:t>Главное окно. Вкладка «Клиенты»</a:t>
            </a:r>
            <a:endParaRPr b="0" lang="ru-RU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Прямоугольник 6"/>
          <p:cNvSpPr/>
          <p:nvPr/>
        </p:nvSpPr>
        <p:spPr>
          <a:xfrm rot="18475200">
            <a:off x="-2220120" y="4130640"/>
            <a:ext cx="4012920" cy="7075800"/>
          </a:xfrm>
          <a:prstGeom prst="rect">
            <a:avLst/>
          </a:prstGeom>
          <a:solidFill>
            <a:srgbClr val="7030a0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42" name="Прямоугольник 9"/>
          <p:cNvSpPr/>
          <p:nvPr/>
        </p:nvSpPr>
        <p:spPr>
          <a:xfrm rot="18475200">
            <a:off x="10184760" y="-4878360"/>
            <a:ext cx="4012920" cy="7075800"/>
          </a:xfrm>
          <a:prstGeom prst="rect">
            <a:avLst/>
          </a:prstGeom>
          <a:solidFill>
            <a:srgbClr val="7030a0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43" name="TextBox 11"/>
          <p:cNvSpPr/>
          <p:nvPr/>
        </p:nvSpPr>
        <p:spPr>
          <a:xfrm>
            <a:off x="744480" y="0"/>
            <a:ext cx="10702080" cy="130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ru-RU" sz="4000" spc="-1" strike="noStrike">
                <a:solidFill>
                  <a:srgbClr val="7030a0"/>
                </a:solidFill>
                <a:latin typeface="Montserrat Ace"/>
                <a:ea typeface="DejaVu Sans"/>
              </a:rPr>
              <a:t>Разработка пользовательского интерфейса</a:t>
            </a:r>
            <a:endParaRPr b="0" lang="ru-RU" sz="4000" spc="-1" strike="noStrike">
              <a:latin typeface="Arial"/>
            </a:endParaRPr>
          </a:p>
        </p:txBody>
      </p:sp>
      <p:pic>
        <p:nvPicPr>
          <p:cNvPr id="144" name="Рисунок 5" descr=""/>
          <p:cNvPicPr/>
          <p:nvPr/>
        </p:nvPicPr>
        <p:blipFill>
          <a:blip r:embed="rId1"/>
          <a:stretch/>
        </p:blipFill>
        <p:spPr>
          <a:xfrm>
            <a:off x="2449800" y="1323360"/>
            <a:ext cx="7291440" cy="4616640"/>
          </a:xfrm>
          <a:prstGeom prst="rect">
            <a:avLst/>
          </a:prstGeom>
          <a:ln w="0">
            <a:noFill/>
          </a:ln>
        </p:spPr>
      </p:pic>
      <p:sp>
        <p:nvSpPr>
          <p:cNvPr id="145" name="TextBox 8"/>
          <p:cNvSpPr/>
          <p:nvPr/>
        </p:nvSpPr>
        <p:spPr>
          <a:xfrm>
            <a:off x="975240" y="5943240"/>
            <a:ext cx="102405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Montserrat Ace"/>
                <a:ea typeface="DejaVu Sans"/>
              </a:rPr>
              <a:t>Главное окно. Вкладка «Номера»</a:t>
            </a:r>
            <a:endParaRPr b="0" lang="ru-RU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Прямоугольник 6"/>
          <p:cNvSpPr/>
          <p:nvPr/>
        </p:nvSpPr>
        <p:spPr>
          <a:xfrm rot="18475200">
            <a:off x="-2220120" y="4130640"/>
            <a:ext cx="4012920" cy="7075800"/>
          </a:xfrm>
          <a:prstGeom prst="rect">
            <a:avLst/>
          </a:prstGeom>
          <a:solidFill>
            <a:srgbClr val="7030a0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47" name="Прямоугольник 9"/>
          <p:cNvSpPr/>
          <p:nvPr/>
        </p:nvSpPr>
        <p:spPr>
          <a:xfrm rot="18475200">
            <a:off x="10184760" y="-4878360"/>
            <a:ext cx="4012920" cy="7075800"/>
          </a:xfrm>
          <a:prstGeom prst="rect">
            <a:avLst/>
          </a:prstGeom>
          <a:solidFill>
            <a:srgbClr val="7030a0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48" name="TextBox 11"/>
          <p:cNvSpPr/>
          <p:nvPr/>
        </p:nvSpPr>
        <p:spPr>
          <a:xfrm>
            <a:off x="744480" y="0"/>
            <a:ext cx="10702080" cy="130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ru-RU" sz="4000" spc="-1" strike="noStrike">
                <a:solidFill>
                  <a:srgbClr val="7030a0"/>
                </a:solidFill>
                <a:latin typeface="Montserrat Ace"/>
                <a:ea typeface="DejaVu Sans"/>
              </a:rPr>
              <a:t>Разработка пользовательского интерфейса</a:t>
            </a:r>
            <a:endParaRPr b="0" lang="ru-RU" sz="4000" spc="-1" strike="noStrike">
              <a:latin typeface="Arial"/>
            </a:endParaRPr>
          </a:p>
        </p:txBody>
      </p:sp>
      <p:pic>
        <p:nvPicPr>
          <p:cNvPr id="149" name="Рисунок 7" descr=""/>
          <p:cNvPicPr/>
          <p:nvPr/>
        </p:nvPicPr>
        <p:blipFill>
          <a:blip r:embed="rId1"/>
          <a:stretch/>
        </p:blipFill>
        <p:spPr>
          <a:xfrm>
            <a:off x="2536560" y="1323360"/>
            <a:ext cx="7117920" cy="4495320"/>
          </a:xfrm>
          <a:prstGeom prst="rect">
            <a:avLst/>
          </a:prstGeom>
          <a:ln w="0">
            <a:noFill/>
          </a:ln>
        </p:spPr>
      </p:pic>
      <p:sp>
        <p:nvSpPr>
          <p:cNvPr id="150" name="TextBox 8"/>
          <p:cNvSpPr/>
          <p:nvPr/>
        </p:nvSpPr>
        <p:spPr>
          <a:xfrm>
            <a:off x="975240" y="5819400"/>
            <a:ext cx="102405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Montserrat Ace"/>
                <a:ea typeface="DejaVu Sans"/>
              </a:rPr>
              <a:t>Главное окно. Вкладка «Уборка»</a:t>
            </a:r>
            <a:endParaRPr b="0" lang="ru-RU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Прямоугольник 6"/>
          <p:cNvSpPr/>
          <p:nvPr/>
        </p:nvSpPr>
        <p:spPr>
          <a:xfrm rot="18475200">
            <a:off x="-2220120" y="4130640"/>
            <a:ext cx="4012920" cy="7075800"/>
          </a:xfrm>
          <a:prstGeom prst="rect">
            <a:avLst/>
          </a:prstGeom>
          <a:solidFill>
            <a:srgbClr val="7030a0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52" name="Прямоугольник 9"/>
          <p:cNvSpPr/>
          <p:nvPr/>
        </p:nvSpPr>
        <p:spPr>
          <a:xfrm rot="18475200">
            <a:off x="10184760" y="-4878360"/>
            <a:ext cx="4012920" cy="7075800"/>
          </a:xfrm>
          <a:prstGeom prst="rect">
            <a:avLst/>
          </a:prstGeom>
          <a:solidFill>
            <a:srgbClr val="7030a0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53" name="TextBox 11"/>
          <p:cNvSpPr/>
          <p:nvPr/>
        </p:nvSpPr>
        <p:spPr>
          <a:xfrm>
            <a:off x="744480" y="0"/>
            <a:ext cx="10702080" cy="130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ru-RU" sz="4000" spc="-1" strike="noStrike">
                <a:solidFill>
                  <a:srgbClr val="7030a0"/>
                </a:solidFill>
                <a:latin typeface="Montserrat Ace"/>
                <a:ea typeface="DejaVu Sans"/>
              </a:rPr>
              <a:t>Разработка пользовательского интерфейса</a:t>
            </a:r>
            <a:endParaRPr b="0" lang="ru-RU" sz="4000" spc="-1" strike="noStrike">
              <a:latin typeface="Arial"/>
            </a:endParaRPr>
          </a:p>
        </p:txBody>
      </p:sp>
      <p:pic>
        <p:nvPicPr>
          <p:cNvPr id="154" name="Рисунок 5" descr=""/>
          <p:cNvPicPr/>
          <p:nvPr/>
        </p:nvPicPr>
        <p:blipFill>
          <a:blip r:embed="rId1"/>
          <a:stretch/>
        </p:blipFill>
        <p:spPr>
          <a:xfrm>
            <a:off x="2262240" y="1323360"/>
            <a:ext cx="7666560" cy="4833720"/>
          </a:xfrm>
          <a:prstGeom prst="rect">
            <a:avLst/>
          </a:prstGeom>
          <a:ln w="0">
            <a:noFill/>
          </a:ln>
        </p:spPr>
      </p:pic>
      <p:sp>
        <p:nvSpPr>
          <p:cNvPr id="155" name="TextBox 8"/>
          <p:cNvSpPr/>
          <p:nvPr/>
        </p:nvSpPr>
        <p:spPr>
          <a:xfrm>
            <a:off x="975240" y="6157800"/>
            <a:ext cx="102405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Montserrat Ace"/>
                <a:ea typeface="DejaVu Sans"/>
              </a:rPr>
              <a:t>Главное окно. Вкладка «Работники»</a:t>
            </a:r>
            <a:endParaRPr b="0" lang="ru-RU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Рисунок 7" descr=""/>
          <p:cNvPicPr/>
          <p:nvPr/>
        </p:nvPicPr>
        <p:blipFill>
          <a:blip r:embed="rId1"/>
          <a:stretch/>
        </p:blipFill>
        <p:spPr>
          <a:xfrm>
            <a:off x="232560" y="1323360"/>
            <a:ext cx="7410600" cy="4734000"/>
          </a:xfrm>
          <a:prstGeom prst="rect">
            <a:avLst/>
          </a:prstGeom>
          <a:ln w="0">
            <a:noFill/>
          </a:ln>
        </p:spPr>
      </p:pic>
      <p:sp>
        <p:nvSpPr>
          <p:cNvPr id="157" name="Прямоугольник 6"/>
          <p:cNvSpPr/>
          <p:nvPr/>
        </p:nvSpPr>
        <p:spPr>
          <a:xfrm rot="18475200">
            <a:off x="-2220120" y="4130640"/>
            <a:ext cx="4012920" cy="7075800"/>
          </a:xfrm>
          <a:prstGeom prst="rect">
            <a:avLst/>
          </a:prstGeom>
          <a:solidFill>
            <a:srgbClr val="7030a0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58" name="Прямоугольник 9"/>
          <p:cNvSpPr/>
          <p:nvPr/>
        </p:nvSpPr>
        <p:spPr>
          <a:xfrm rot="18475200">
            <a:off x="10184760" y="-4878360"/>
            <a:ext cx="4012920" cy="7075800"/>
          </a:xfrm>
          <a:prstGeom prst="rect">
            <a:avLst/>
          </a:prstGeom>
          <a:solidFill>
            <a:srgbClr val="7030a0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59" name="TextBox 11"/>
          <p:cNvSpPr/>
          <p:nvPr/>
        </p:nvSpPr>
        <p:spPr>
          <a:xfrm>
            <a:off x="744480" y="0"/>
            <a:ext cx="10702080" cy="130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ru-RU" sz="4000" spc="-1" strike="noStrike">
                <a:solidFill>
                  <a:srgbClr val="7030a0"/>
                </a:solidFill>
                <a:latin typeface="Montserrat Ace"/>
                <a:ea typeface="DejaVu Sans"/>
              </a:rPr>
              <a:t>Разработка пользовательского интерфейса</a:t>
            </a:r>
            <a:endParaRPr b="0" lang="ru-RU" sz="4000" spc="-1" strike="noStrike">
              <a:latin typeface="Arial"/>
            </a:endParaRPr>
          </a:p>
        </p:txBody>
      </p:sp>
      <p:pic>
        <p:nvPicPr>
          <p:cNvPr id="160" name="Рисунок 8" descr=""/>
          <p:cNvPicPr/>
          <p:nvPr/>
        </p:nvPicPr>
        <p:blipFill>
          <a:blip r:embed="rId2"/>
          <a:stretch/>
        </p:blipFill>
        <p:spPr>
          <a:xfrm>
            <a:off x="8002800" y="1902240"/>
            <a:ext cx="3956040" cy="4017240"/>
          </a:xfrm>
          <a:prstGeom prst="rect">
            <a:avLst/>
          </a:prstGeom>
          <a:ln w="0">
            <a:noFill/>
          </a:ln>
        </p:spPr>
      </p:pic>
      <p:sp>
        <p:nvSpPr>
          <p:cNvPr id="161" name="TextBox 10"/>
          <p:cNvSpPr/>
          <p:nvPr/>
        </p:nvSpPr>
        <p:spPr>
          <a:xfrm>
            <a:off x="1424160" y="6058080"/>
            <a:ext cx="47725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Montserrat Ace"/>
                <a:ea typeface="DejaVu Sans"/>
              </a:rPr>
              <a:t>Главное окно. Вкладка «Отчёты»</a:t>
            </a:r>
            <a:endParaRPr b="0" lang="ru-RU" sz="1800" spc="-1" strike="noStrike">
              <a:latin typeface="Arial"/>
            </a:endParaRPr>
          </a:p>
        </p:txBody>
      </p:sp>
      <p:sp>
        <p:nvSpPr>
          <p:cNvPr id="162" name="TextBox 12"/>
          <p:cNvSpPr/>
          <p:nvPr/>
        </p:nvSpPr>
        <p:spPr>
          <a:xfrm>
            <a:off x="8390160" y="5551200"/>
            <a:ext cx="31813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Montserrat Ace"/>
                <a:ea typeface="DejaVu Sans"/>
              </a:rPr>
              <a:t>Пример диалогового окна</a:t>
            </a:r>
            <a:endParaRPr b="0" lang="ru-RU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Рисунок 1" descr=""/>
          <p:cNvPicPr/>
          <p:nvPr/>
        </p:nvPicPr>
        <p:blipFill>
          <a:blip r:embed="rId1"/>
          <a:stretch/>
        </p:blipFill>
        <p:spPr>
          <a:xfrm>
            <a:off x="424800" y="1222560"/>
            <a:ext cx="5200920" cy="4868280"/>
          </a:xfrm>
          <a:prstGeom prst="rect">
            <a:avLst/>
          </a:prstGeom>
          <a:ln w="0">
            <a:noFill/>
          </a:ln>
        </p:spPr>
      </p:pic>
      <p:sp>
        <p:nvSpPr>
          <p:cNvPr id="164" name="Прямоугольник 6"/>
          <p:cNvSpPr/>
          <p:nvPr/>
        </p:nvSpPr>
        <p:spPr>
          <a:xfrm rot="18475200">
            <a:off x="-2220120" y="4130640"/>
            <a:ext cx="4012920" cy="7075800"/>
          </a:xfrm>
          <a:prstGeom prst="rect">
            <a:avLst/>
          </a:prstGeom>
          <a:solidFill>
            <a:srgbClr val="7030a0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65" name="Прямоугольник 9"/>
          <p:cNvSpPr/>
          <p:nvPr/>
        </p:nvSpPr>
        <p:spPr>
          <a:xfrm rot="18475200">
            <a:off x="10184760" y="-4878360"/>
            <a:ext cx="4012920" cy="7075800"/>
          </a:xfrm>
          <a:prstGeom prst="rect">
            <a:avLst/>
          </a:prstGeom>
          <a:solidFill>
            <a:srgbClr val="7030a0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66" name="TextBox 11"/>
          <p:cNvSpPr/>
          <p:nvPr/>
        </p:nvSpPr>
        <p:spPr>
          <a:xfrm>
            <a:off x="4177440" y="0"/>
            <a:ext cx="383724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ru-RU" sz="4000" spc="-1" strike="noStrike">
                <a:solidFill>
                  <a:srgbClr val="7030a0"/>
                </a:solidFill>
                <a:latin typeface="Montserrat Ace"/>
                <a:ea typeface="DejaVu Sans"/>
              </a:rPr>
              <a:t>Заключение</a:t>
            </a:r>
            <a:endParaRPr b="0" lang="ru-RU" sz="4000" spc="-1" strike="noStrike">
              <a:latin typeface="Arial"/>
            </a:endParaRPr>
          </a:p>
        </p:txBody>
      </p:sp>
      <p:sp>
        <p:nvSpPr>
          <p:cNvPr id="167" name="TextBox 7"/>
          <p:cNvSpPr/>
          <p:nvPr/>
        </p:nvSpPr>
        <p:spPr>
          <a:xfrm>
            <a:off x="5975280" y="1737000"/>
            <a:ext cx="10240560" cy="303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just">
              <a:lnSpc>
                <a:spcPct val="150000"/>
              </a:lnSpc>
              <a:spcAft>
                <a:spcPts val="799"/>
              </a:spcAft>
              <a:buNone/>
              <a:tabLst>
                <a:tab algn="l" pos="0"/>
              </a:tabLst>
            </a:pPr>
            <a:r>
              <a:rPr b="0" lang="ru-RU" sz="4000" spc="-1" strike="noStrike">
                <a:solidFill>
                  <a:srgbClr val="000000"/>
                </a:solidFill>
                <a:latin typeface="Montserrat Ace"/>
                <a:ea typeface="Calibri"/>
              </a:rPr>
              <a:t>Задачи выполнены</a:t>
            </a:r>
            <a:endParaRPr b="0" lang="ru-RU" sz="4000" spc="-1" strike="noStrike">
              <a:latin typeface="Arial"/>
            </a:endParaRPr>
          </a:p>
          <a:p>
            <a:pPr algn="just">
              <a:lnSpc>
                <a:spcPct val="150000"/>
              </a:lnSpc>
              <a:spcAft>
                <a:spcPts val="799"/>
              </a:spcAft>
              <a:buNone/>
              <a:tabLst>
                <a:tab algn="l" pos="0"/>
              </a:tabLst>
            </a:pPr>
            <a:r>
              <a:rPr b="0" lang="ru-RU" sz="4000" spc="-1" strike="noStrike">
                <a:solidFill>
                  <a:srgbClr val="000000"/>
                </a:solidFill>
                <a:latin typeface="Montserrat Ace"/>
                <a:ea typeface="Calibri"/>
              </a:rPr>
              <a:t>Цель достигнута</a:t>
            </a:r>
            <a:endParaRPr b="0" lang="ru-RU" sz="4000" spc="-1" strike="noStrike">
              <a:latin typeface="Arial"/>
            </a:endParaRPr>
          </a:p>
          <a:p>
            <a:pPr algn="just">
              <a:lnSpc>
                <a:spcPct val="150000"/>
              </a:lnSpc>
              <a:spcAft>
                <a:spcPts val="799"/>
              </a:spcAft>
              <a:buNone/>
              <a:tabLst>
                <a:tab algn="l" pos="0"/>
              </a:tabLst>
            </a:pPr>
            <a:r>
              <a:rPr b="0" lang="ru-RU" sz="4000" spc="-1" strike="noStrike">
                <a:solidFill>
                  <a:srgbClr val="000000"/>
                </a:solidFill>
                <a:latin typeface="Montserrat Ace"/>
                <a:ea typeface="Calibri"/>
              </a:rPr>
              <a:t>Всё чётко!</a:t>
            </a:r>
            <a:endParaRPr b="0" lang="ru-RU" sz="4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TextBox 1"/>
          <p:cNvSpPr/>
          <p:nvPr/>
        </p:nvSpPr>
        <p:spPr>
          <a:xfrm>
            <a:off x="1626120" y="2505600"/>
            <a:ext cx="893952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ru-RU" sz="5400" spc="-1" strike="noStrike">
                <a:solidFill>
                  <a:srgbClr val="7030a0"/>
                </a:solidFill>
                <a:latin typeface="Montserrat Ace"/>
                <a:ea typeface="DejaVu Sans"/>
              </a:rPr>
              <a:t>Спасибо за внимание!</a:t>
            </a:r>
            <a:endParaRPr b="0" lang="ru-RU" sz="5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TM03457491[[fn=Метрополия]]</Template>
  <TotalTime>265</TotalTime>
  <Application>LibreOffice/7.3.7.2$Linux_X86_64 LibreOffice_project/30$Build-2</Application>
  <AppVersion>15.0000</AppVersion>
  <Words>359</Words>
  <Paragraphs>90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2025-12-15T14:54:47Z</dcterms:created>
  <dc:creator>Mikhail Elesov</dc:creator>
  <dc:description/>
  <dc:language>ru-RU</dc:language>
  <cp:lastModifiedBy/>
  <dcterms:modified xsi:type="dcterms:W3CDTF">2025-12-18T08:21:20Z</dcterms:modified>
  <cp:revision>34</cp:revision>
  <dc:subject/>
  <dc:title>База данных для гостиницы. Подсистема Работа с клиентами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Широкоэкранный</vt:lpwstr>
  </property>
  <property fmtid="{D5CDD505-2E9C-101B-9397-08002B2CF9AE}" pid="3" name="Slides">
    <vt:i4>17</vt:i4>
  </property>
</Properties>
</file>